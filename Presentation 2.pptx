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93" r:id="rId5"/>
    <p:sldId id="289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3887E-E8B2-FD0F-69A7-2C4C0EA6C1CC}" v="2" dt="2026-03-23T14:51:24.247"/>
    <p1510:client id="{9EDAE419-29AB-A253-6DA2-57143593086E}" v="1" dt="2026-03-23T14:50:49.732"/>
    <p1510:client id="{A54598F5-51BB-16B5-ED2D-B9D9A514DE1B}" v="5" dt="2026-03-23T14:02:01.587"/>
    <p1510:client id="{AC383808-7853-E230-5EB3-0DAF86117BD3}" v="353" dt="2026-03-23T16:40:01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5" d="100"/>
          <a:sy n="95" d="100"/>
        </p:scale>
        <p:origin x="76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923"/>
            </a:gs>
            <a:gs pos="100000">
              <a:srgbClr val="1522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Accent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0E5FF"/>
              </a:gs>
              <a:gs pos="50000">
                <a:srgbClr val="B388FF"/>
              </a:gs>
              <a:gs pos="100000">
                <a:srgbClr val="FF6E4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LeftAccent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gradFill>
            <a:gsLst>
              <a:gs pos="0">
                <a:srgbClr val="00E5FF">
                  <a:alpha val="15000"/>
                </a:srgbClr>
              </a:gs>
              <a:gs pos="100000">
                <a:srgbClr val="00E5FF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Bottom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0E5FF"/>
              </a:gs>
              <a:gs pos="50000">
                <a:srgbClr val="B388FF"/>
              </a:gs>
              <a:gs pos="100000">
                <a:srgbClr val="FF6E4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LeftGlow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gradFill>
            <a:gsLst>
              <a:gs pos="0">
                <a:srgbClr val="00E5FF">
                  <a:alpha val="12000"/>
                </a:srgbClr>
              </a:gs>
              <a:gs pos="100000">
                <a:srgbClr val="00E5FF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Bar"/>
          <p:cNvSpPr/>
          <p:nvPr/>
        </p:nvSpPr>
        <p:spPr>
          <a:xfrm>
            <a:off x="906684" y="0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ottomBar"/>
          <p:cNvSpPr/>
          <p:nvPr/>
        </p:nvSpPr>
        <p:spPr>
          <a:xfrm>
            <a:off x="1755494" y="6708937"/>
            <a:ext cx="9144000" cy="178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D2A8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ugCard"/>
          <p:cNvSpPr/>
          <p:nvPr/>
        </p:nvSpPr>
        <p:spPr>
          <a:xfrm>
            <a:off x="6666127" y="1247038"/>
            <a:ext cx="3694000" cy="12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2000">
            <a:solidFill>
              <a:srgbClr val="F78166"/>
            </a:solidFill>
          </a:ln>
        </p:spPr>
        <p:txBody>
          <a:bodyPr wrap="square" lIns="200000" tIns="160000" rIns="200000" bIns="160000"/>
          <a:lstStyle/>
          <a:p>
            <a:r>
              <a:rPr lang="en-US" sz="1500" b="1" dirty="0">
                <a:solidFill>
                  <a:srgbClr val="F78166"/>
                </a:solidFill>
              </a:rPr>
              <a:t>🐞  BUG-4892  CRITICAL</a:t>
            </a:r>
          </a:p>
          <a:p>
            <a:r>
              <a:rPr lang="en-US" sz="1300" dirty="0">
                <a:solidFill>
                  <a:srgbClr val="C9D1D9"/>
                </a:solidFill>
              </a:rPr>
              <a:t>cancel() fails silently on orders</a:t>
            </a:r>
          </a:p>
          <a:p>
            <a:r>
              <a:rPr lang="en-US" sz="1300" dirty="0">
                <a:solidFill>
                  <a:srgbClr val="FFA657"/>
                </a:solidFill>
              </a:rPr>
              <a:t>📅  Assigned to: You 😉</a:t>
            </a:r>
          </a:p>
        </p:txBody>
      </p:sp>
      <p:sp>
        <p:nvSpPr>
          <p:cNvPr id="13" name="TitleLine1"/>
          <p:cNvSpPr/>
          <p:nvPr/>
        </p:nvSpPr>
        <p:spPr>
          <a:xfrm>
            <a:off x="1185621" y="205317"/>
            <a:ext cx="4700000" cy="5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4200" b="1" dirty="0">
                <a:solidFill>
                  <a:srgbClr val="F0F6FC"/>
                </a:solidFill>
                <a:latin typeface="Segoe UI Semibold"/>
              </a:rPr>
              <a:t>The State</a:t>
            </a:r>
          </a:p>
        </p:txBody>
      </p:sp>
      <p:sp>
        <p:nvSpPr>
          <p:cNvPr id="14" name="TitleLine2"/>
          <p:cNvSpPr/>
          <p:nvPr/>
        </p:nvSpPr>
        <p:spPr>
          <a:xfrm>
            <a:off x="1185621" y="1008937"/>
            <a:ext cx="4700000" cy="5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4200" b="1" dirty="0">
                <a:solidFill>
                  <a:srgbClr val="58A6FF"/>
                </a:solidFill>
                <a:latin typeface="Segoe UI Semibold"/>
              </a:rPr>
              <a:t>Design Pattern</a:t>
            </a:r>
          </a:p>
        </p:txBody>
      </p:sp>
      <p:sp>
        <p:nvSpPr>
          <p:cNvPr id="15" name="Subtitle"/>
          <p:cNvSpPr/>
          <p:nvPr/>
        </p:nvSpPr>
        <p:spPr>
          <a:xfrm>
            <a:off x="1243494" y="1710000"/>
            <a:ext cx="4700000" cy="3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600" dirty="0">
                <a:solidFill>
                  <a:srgbClr val="8B949E"/>
                </a:solidFill>
                <a:latin typeface="Segoe UI"/>
              </a:rPr>
              <a:t>From messy if/else chaos → elegant, extensible code</a:t>
            </a:r>
          </a:p>
        </p:txBody>
      </p:sp>
      <p:sp>
        <p:nvSpPr>
          <p:cNvPr id="20" name="Badge0"/>
          <p:cNvSpPr/>
          <p:nvPr/>
        </p:nvSpPr>
        <p:spPr>
          <a:xfrm>
            <a:off x="1266785" y="2209291"/>
            <a:ext cx="1524000" cy="368300"/>
          </a:xfrm>
          <a:prstGeom prst="roundRect">
            <a:avLst>
              <a:gd name="adj" fmla="val 50000"/>
            </a:avLst>
          </a:prstGeom>
          <a:solidFill>
            <a:srgbClr val="58A6FF">
              <a:alpha val="18000"/>
            </a:srgbClr>
          </a:solidFill>
          <a:ln w="15000">
            <a:solidFill>
              <a:srgbClr val="58A6FF"/>
            </a:solidFill>
          </a:ln>
        </p:spPr>
        <p:txBody>
          <a:bodyPr lIns="80000" tIns="0" rIns="80000" bIns="0" anchor="ctr"/>
          <a:lstStyle/>
          <a:p>
            <a:pPr algn="ctr"/>
            <a:r>
              <a:rPr lang="en-US" sz="1300" b="1" dirty="0">
                <a:solidFill>
                  <a:srgbClr val="58A6FF"/>
                </a:solidFill>
              </a:rPr>
              <a:t>Why it exists</a:t>
            </a:r>
          </a:p>
        </p:txBody>
      </p:sp>
      <p:sp>
        <p:nvSpPr>
          <p:cNvPr id="21" name="Badge1"/>
          <p:cNvSpPr/>
          <p:nvPr/>
        </p:nvSpPr>
        <p:spPr>
          <a:xfrm>
            <a:off x="2854285" y="2209291"/>
            <a:ext cx="1524000" cy="368300"/>
          </a:xfrm>
          <a:prstGeom prst="roundRect">
            <a:avLst>
              <a:gd name="adj" fmla="val 50000"/>
            </a:avLst>
          </a:prstGeom>
          <a:solidFill>
            <a:srgbClr val="D2A8FF">
              <a:alpha val="18000"/>
            </a:srgbClr>
          </a:solidFill>
          <a:ln w="15000">
            <a:solidFill>
              <a:srgbClr val="D2A8FF"/>
            </a:solidFill>
          </a:ln>
        </p:spPr>
        <p:txBody>
          <a:bodyPr lIns="80000" tIns="0" rIns="80000" bIns="0" anchor="ctr"/>
          <a:lstStyle/>
          <a:p>
            <a:pPr algn="ctr"/>
            <a:r>
              <a:rPr lang="en-US" sz="1300" b="1" dirty="0">
                <a:solidFill>
                  <a:srgbClr val="D2A8FF"/>
                </a:solidFill>
              </a:rPr>
              <a:t>How it evolved</a:t>
            </a:r>
          </a:p>
        </p:txBody>
      </p:sp>
      <p:sp>
        <p:nvSpPr>
          <p:cNvPr id="22" name="Badge2"/>
          <p:cNvSpPr/>
          <p:nvPr/>
        </p:nvSpPr>
        <p:spPr>
          <a:xfrm>
            <a:off x="4441785" y="2209291"/>
            <a:ext cx="1524000" cy="368300"/>
          </a:xfrm>
          <a:prstGeom prst="roundRect">
            <a:avLst>
              <a:gd name="adj" fmla="val 50000"/>
            </a:avLst>
          </a:prstGeom>
          <a:solidFill>
            <a:srgbClr val="3FB950">
              <a:alpha val="18000"/>
            </a:srgbClr>
          </a:solidFill>
          <a:ln w="15000">
            <a:solidFill>
              <a:srgbClr val="3FB950"/>
            </a:solidFill>
          </a:ln>
        </p:spPr>
        <p:txBody>
          <a:bodyPr lIns="80000" tIns="0" rIns="80000" bIns="0" anchor="ctr"/>
          <a:lstStyle/>
          <a:p>
            <a:pPr algn="ctr"/>
            <a:r>
              <a:rPr lang="en-US" sz="1200" b="1" dirty="0">
                <a:solidFill>
                  <a:srgbClr val="3FB950"/>
                </a:solidFill>
              </a:rPr>
              <a:t>Spot it in the wild</a:t>
            </a:r>
          </a:p>
        </p:txBody>
      </p:sp>
      <p:sp>
        <p:nvSpPr>
          <p:cNvPr id="30" name="CodeBlock"/>
          <p:cNvSpPr/>
          <p:nvPr/>
        </p:nvSpPr>
        <p:spPr>
          <a:xfrm>
            <a:off x="1185621" y="2789291"/>
            <a:ext cx="8644000" cy="37100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350000" tIns="300000" rIns="350000" bIns="300000"/>
          <a:lstStyle/>
          <a:p>
            <a:r>
              <a:rPr lang="en-US" sz="1400" dirty="0">
                <a:solidFill>
                  <a:srgbClr val="8B949E"/>
                </a:solidFill>
                <a:latin typeface="Consolas"/>
              </a:rPr>
              <a:t>// OrderService.java — can you spot the problem?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400" dirty="0">
                <a:solidFill>
                  <a:srgbClr val="D2A8FF"/>
                </a:solidFill>
                <a:latin typeface="Consolas"/>
              </a:rPr>
              <a:t>public void </a:t>
            </a:r>
            <a:r>
              <a:rPr lang="en-US" sz="1400" dirty="0">
                <a:solidFill>
                  <a:srgbClr val="79C0FF"/>
                </a:solidFill>
                <a:latin typeface="Consolas"/>
              </a:rPr>
              <a:t>cancel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() {</a:t>
            </a:r>
          </a:p>
          <a:p>
            <a:r>
              <a:rPr lang="en-US" sz="1400" dirty="0">
                <a:solidFill>
                  <a:srgbClr val="D2A8FF"/>
                </a:solidFill>
                <a:latin typeface="Consolas"/>
              </a:rPr>
              <a:t>  if 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(status.equals(</a:t>
            </a:r>
            <a:r>
              <a:rPr lang="en-US" sz="1400" dirty="0">
                <a:solidFill>
                  <a:srgbClr val="3FB950"/>
                </a:solidFill>
                <a:latin typeface="Consolas"/>
              </a:rPr>
              <a:t>"PLACED"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))    { placedCancel(); }</a:t>
            </a:r>
          </a:p>
          <a:p>
            <a:r>
              <a:rPr lang="en-US" sz="1400" dirty="0">
                <a:solidFill>
                  <a:srgbClr val="D2A8FF"/>
                </a:solidFill>
                <a:latin typeface="Consolas"/>
              </a:rPr>
              <a:t>  else if 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(status.equals(</a:t>
            </a:r>
            <a:r>
              <a:rPr lang="en-US" sz="1400" dirty="0">
                <a:solidFill>
                  <a:srgbClr val="3FB950"/>
                </a:solidFill>
                <a:latin typeface="Consolas"/>
              </a:rPr>
              <a:t>"CONFIRMED"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)) { confirmedCancel(); }</a:t>
            </a:r>
          </a:p>
          <a:p>
            <a:r>
              <a:rPr lang="en-US" sz="1400" dirty="0">
                <a:solidFill>
                  <a:srgbClr val="D2A8FF"/>
                </a:solidFill>
                <a:latin typeface="Consolas"/>
              </a:rPr>
              <a:t>  else if 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(status.equals(</a:t>
            </a:r>
            <a:r>
              <a:rPr lang="en-US" sz="1400" dirty="0">
                <a:solidFill>
                  <a:srgbClr val="3FB950"/>
                </a:solidFill>
                <a:latin typeface="Consolas"/>
              </a:rPr>
              <a:t>"SHIPPED"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))   {</a:t>
            </a:r>
          </a:p>
          <a:p>
            <a:r>
              <a:rPr lang="en-US" sz="1400" dirty="0">
                <a:solidFill>
                  <a:srgbClr val="F78166"/>
                </a:solidFill>
                <a:latin typeface="Consolas"/>
              </a:rPr>
              <a:t>    throw new IllegalStateException("Cannot cancel!");</a:t>
            </a:r>
          </a:p>
          <a:p>
            <a:r>
              <a:rPr lang="en-US" sz="1400" dirty="0">
                <a:solidFill>
                  <a:srgbClr val="C9D1D9"/>
                </a:solidFill>
                <a:latin typeface="Consolas"/>
              </a:rPr>
              <a:t>  } else {  </a:t>
            </a:r>
            <a:r>
              <a:rPr lang="en-US" sz="1400" dirty="0">
                <a:solidFill>
                  <a:srgbClr val="F78166"/>
                </a:solidFill>
                <a:latin typeface="Consolas"/>
              </a:rPr>
              <a:t>throw new IllegalStateException("Cannot cancel!");</a:t>
            </a:r>
            <a:r>
              <a:rPr lang="en-US" sz="1400" dirty="0">
                <a:solidFill>
                  <a:srgbClr val="C9D1D9"/>
                </a:solidFill>
                <a:latin typeface="Consolas"/>
              </a:rPr>
              <a:t> }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400" dirty="0">
                <a:solidFill>
                  <a:srgbClr val="8B949E"/>
                </a:solidFill>
                <a:latin typeface="Consolas"/>
              </a:rPr>
              <a:t>  // confirm(), ship(), deliver() — same pattern. 200+ lines total.</a:t>
            </a:r>
          </a:p>
          <a:p>
            <a:r>
              <a:rPr lang="en-US" sz="1400" dirty="0">
                <a:solidFill>
                  <a:srgbClr val="F78166"/>
                </a:solidFill>
                <a:latin typeface="Consolas"/>
              </a:rPr>
              <a:t>  // BUG-4892 is hiding in here somewhere 😵</a:t>
            </a:r>
          </a:p>
          <a:p>
            <a:r>
              <a:rPr lang="en-US" sz="14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457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302152" y="-48228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302152" y="6657772"/>
            <a:ext cx="9144000" cy="152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D2A8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502152" y="111772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Meet the Domain: </a:t>
            </a:r>
            <a:r>
              <a:rPr lang="en-US" sz="2800" b="1" dirty="0">
                <a:solidFill>
                  <a:srgbClr val="58A6FF"/>
                </a:solidFill>
                <a:latin typeface="Segoe UI Semibold"/>
              </a:rPr>
              <a:t>Order Lifecycle</a:t>
            </a:r>
          </a:p>
        </p:txBody>
      </p:sp>
      <p:sp>
        <p:nvSpPr>
          <p:cNvPr id="13" name="Sub"/>
          <p:cNvSpPr/>
          <p:nvPr/>
        </p:nvSpPr>
        <p:spPr>
          <a:xfrm>
            <a:off x="1502152" y="611772"/>
            <a:ext cx="8700000" cy="2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dirty="0">
                <a:solidFill>
                  <a:srgbClr val="8B949E"/>
                </a:solidFill>
              </a:rPr>
              <a:t>Each state allows DIFFERENT actions — this is the heart of the problem</a:t>
            </a:r>
          </a:p>
        </p:txBody>
      </p:sp>
      <p:sp>
        <p:nvSpPr>
          <p:cNvPr id="20" name="S20"/>
          <p:cNvSpPr/>
          <p:nvPr/>
        </p:nvSpPr>
        <p:spPr>
          <a:xfrm>
            <a:off x="1392152" y="1001772"/>
            <a:ext cx="1600000" cy="1550000"/>
          </a:xfrm>
          <a:prstGeom prst="roundRect">
            <a:avLst>
              <a:gd name="adj" fmla="val 14000"/>
            </a:avLst>
          </a:prstGeom>
          <a:solidFill>
            <a:srgbClr val="1C2128"/>
          </a:solidFill>
          <a:ln w="27000">
            <a:solidFill>
              <a:srgbClr val="58A6FF"/>
            </a:solidFill>
          </a:ln>
        </p:spPr>
        <p:txBody>
          <a:bodyPr lIns="91440" tIns="60000" rIns="91440" bIns="60000" anchor="ctr"/>
          <a:lstStyle/>
          <a:p>
            <a:pPr algn="ctr"/>
            <a:r>
              <a:rPr lang="en-US" sz="2800" dirty="0">
                <a:solidFill>
                  <a:srgbClr val="58A6FF"/>
                </a:solidFill>
              </a:rPr>
              <a:t>📦</a:t>
            </a:r>
          </a:p>
          <a:p>
            <a:pPr algn="ctr"/>
            <a:r>
              <a:rPr lang="en-US" sz="1200" b="1" dirty="0">
                <a:solidFill>
                  <a:srgbClr val="58A6FF"/>
                </a:solidFill>
                <a:latin typeface="Consolas"/>
              </a:rPr>
              <a:t>PLACED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Payment pending</a:t>
            </a:r>
          </a:p>
        </p:txBody>
      </p:sp>
      <p:sp>
        <p:nvSpPr>
          <p:cNvPr id="21" name="S21"/>
          <p:cNvSpPr/>
          <p:nvPr/>
        </p:nvSpPr>
        <p:spPr>
          <a:xfrm>
            <a:off x="3172152" y="1001772"/>
            <a:ext cx="1600000" cy="1550000"/>
          </a:xfrm>
          <a:prstGeom prst="roundRect">
            <a:avLst>
              <a:gd name="adj" fmla="val 14000"/>
            </a:avLst>
          </a:prstGeom>
          <a:solidFill>
            <a:srgbClr val="1C2128"/>
          </a:solidFill>
          <a:ln w="27000">
            <a:solidFill>
              <a:srgbClr val="3FB950"/>
            </a:solidFill>
          </a:ln>
        </p:spPr>
        <p:txBody>
          <a:bodyPr lIns="91440" tIns="60000" rIns="91440" bIns="60000" anchor="ctr"/>
          <a:lstStyle/>
          <a:p>
            <a:pPr algn="ctr"/>
            <a:r>
              <a:rPr lang="en-US" sz="2800" dirty="0">
                <a:solidFill>
                  <a:srgbClr val="3FB950"/>
                </a:solidFill>
              </a:rPr>
              <a:t>✅</a:t>
            </a:r>
          </a:p>
          <a:p>
            <a:pPr algn="ctr"/>
            <a:r>
              <a:rPr lang="en-US" sz="1200" b="1" dirty="0">
                <a:solidFill>
                  <a:srgbClr val="3FB950"/>
                </a:solidFill>
                <a:latin typeface="Consolas"/>
              </a:rPr>
              <a:t>CONFIRMED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Payment verified</a:t>
            </a:r>
          </a:p>
        </p:txBody>
      </p:sp>
      <p:sp>
        <p:nvSpPr>
          <p:cNvPr id="22" name="S22"/>
          <p:cNvSpPr/>
          <p:nvPr/>
        </p:nvSpPr>
        <p:spPr>
          <a:xfrm>
            <a:off x="4952152" y="1001772"/>
            <a:ext cx="1600000" cy="1550000"/>
          </a:xfrm>
          <a:prstGeom prst="roundRect">
            <a:avLst>
              <a:gd name="adj" fmla="val 14000"/>
            </a:avLst>
          </a:prstGeom>
          <a:solidFill>
            <a:srgbClr val="1C2128"/>
          </a:solidFill>
          <a:ln w="27000">
            <a:solidFill>
              <a:srgbClr val="FFA657"/>
            </a:solidFill>
          </a:ln>
        </p:spPr>
        <p:txBody>
          <a:bodyPr lIns="91440" tIns="60000" rIns="91440" bIns="60000" anchor="ctr"/>
          <a:lstStyle/>
          <a:p>
            <a:pPr algn="ctr"/>
            <a:r>
              <a:rPr lang="en-US" sz="2800" dirty="0">
                <a:solidFill>
                  <a:srgbClr val="FFA657"/>
                </a:solidFill>
              </a:rPr>
              <a:t>🚚</a:t>
            </a:r>
          </a:p>
          <a:p>
            <a:pPr algn="ctr"/>
            <a:r>
              <a:rPr lang="en-US" sz="1200" b="1" dirty="0">
                <a:solidFill>
                  <a:srgbClr val="FFA657"/>
                </a:solidFill>
                <a:latin typeface="Consolas"/>
              </a:rPr>
              <a:t>SHIPPED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With carrier</a:t>
            </a:r>
          </a:p>
        </p:txBody>
      </p:sp>
      <p:sp>
        <p:nvSpPr>
          <p:cNvPr id="23" name="S23"/>
          <p:cNvSpPr/>
          <p:nvPr/>
        </p:nvSpPr>
        <p:spPr>
          <a:xfrm>
            <a:off x="6732152" y="1001772"/>
            <a:ext cx="1600000" cy="1550000"/>
          </a:xfrm>
          <a:prstGeom prst="roundRect">
            <a:avLst>
              <a:gd name="adj" fmla="val 14000"/>
            </a:avLst>
          </a:prstGeom>
          <a:solidFill>
            <a:srgbClr val="1C2128"/>
          </a:solidFill>
          <a:ln w="27000">
            <a:solidFill>
              <a:srgbClr val="D2A8FF"/>
            </a:solidFill>
          </a:ln>
        </p:spPr>
        <p:txBody>
          <a:bodyPr lIns="91440" tIns="60000" rIns="91440" bIns="60000" anchor="ctr"/>
          <a:lstStyle/>
          <a:p>
            <a:pPr algn="ctr"/>
            <a:r>
              <a:rPr lang="en-US" sz="2800" dirty="0">
                <a:solidFill>
                  <a:srgbClr val="D2A8FF"/>
                </a:solidFill>
              </a:rPr>
              <a:t>🏠</a:t>
            </a:r>
          </a:p>
          <a:p>
            <a:pPr algn="ctr"/>
            <a:r>
              <a:rPr lang="en-US" sz="1200" b="1" dirty="0">
                <a:solidFill>
                  <a:srgbClr val="D2A8FF"/>
                </a:solidFill>
                <a:latin typeface="Consolas"/>
              </a:rPr>
              <a:t>DELIVERED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Customer received</a:t>
            </a:r>
          </a:p>
        </p:txBody>
      </p:sp>
      <p:sp>
        <p:nvSpPr>
          <p:cNvPr id="24" name="S24"/>
          <p:cNvSpPr/>
          <p:nvPr/>
        </p:nvSpPr>
        <p:spPr>
          <a:xfrm>
            <a:off x="8512152" y="1001772"/>
            <a:ext cx="1600000" cy="1550000"/>
          </a:xfrm>
          <a:prstGeom prst="roundRect">
            <a:avLst>
              <a:gd name="adj" fmla="val 14000"/>
            </a:avLst>
          </a:prstGeom>
          <a:solidFill>
            <a:srgbClr val="1C2128"/>
          </a:solidFill>
          <a:ln w="27000">
            <a:solidFill>
              <a:srgbClr val="F78166"/>
            </a:solidFill>
          </a:ln>
        </p:spPr>
        <p:txBody>
          <a:bodyPr lIns="91440" tIns="60000" rIns="91440" bIns="60000" anchor="ctr"/>
          <a:lstStyle/>
          <a:p>
            <a:pPr algn="ctr"/>
            <a:r>
              <a:rPr lang="en-US" sz="2800" dirty="0">
                <a:solidFill>
                  <a:srgbClr val="F78166"/>
                </a:solidFill>
              </a:rPr>
              <a:t>❌</a:t>
            </a:r>
          </a:p>
          <a:p>
            <a:pPr algn="ctr"/>
            <a:r>
              <a:rPr lang="en-US" sz="1200" b="1" dirty="0">
                <a:solidFill>
                  <a:srgbClr val="F78166"/>
                </a:solidFill>
                <a:latin typeface="Consolas"/>
              </a:rPr>
              <a:t>CANCELLED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Order voided</a:t>
            </a:r>
          </a:p>
        </p:txBody>
      </p:sp>
      <p:sp>
        <p:nvSpPr>
          <p:cNvPr id="30" name="Arr0"/>
          <p:cNvSpPr/>
          <p:nvPr/>
        </p:nvSpPr>
        <p:spPr>
          <a:xfrm>
            <a:off x="2997152" y="1726772"/>
            <a:ext cx="1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Arr1"/>
          <p:cNvSpPr/>
          <p:nvPr/>
        </p:nvSpPr>
        <p:spPr>
          <a:xfrm>
            <a:off x="4777152" y="1726772"/>
            <a:ext cx="1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Arr2"/>
          <p:cNvSpPr/>
          <p:nvPr/>
        </p:nvSpPr>
        <p:spPr>
          <a:xfrm>
            <a:off x="6557152" y="1726772"/>
            <a:ext cx="1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Arr3"/>
          <p:cNvSpPr/>
          <p:nvPr/>
        </p:nvSpPr>
        <p:spPr>
          <a:xfrm>
            <a:off x="8337152" y="1726772"/>
            <a:ext cx="1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ActionHdr"/>
          <p:cNvSpPr/>
          <p:nvPr/>
        </p:nvSpPr>
        <p:spPr>
          <a:xfrm>
            <a:off x="1502152" y="2751772"/>
            <a:ext cx="8740000" cy="36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500" b="1" dirty="0">
                <a:solidFill>
                  <a:srgbClr val="FFA657"/>
                </a:solidFill>
              </a:rPr>
              <a:t>⚠  Allowed Actions per State (this drives everything!)</a:t>
            </a:r>
          </a:p>
        </p:txBody>
      </p:sp>
      <p:sp>
        <p:nvSpPr>
          <p:cNvPr id="50" name="H0"/>
          <p:cNvSpPr/>
          <p:nvPr/>
        </p:nvSpPr>
        <p:spPr>
          <a:xfrm>
            <a:off x="1502152" y="3231772"/>
            <a:ext cx="1600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C9D1D9"/>
                </a:solidFill>
                <a:latin typeface="Consolas"/>
              </a:rPr>
              <a:t>Action</a:t>
            </a:r>
          </a:p>
        </p:txBody>
      </p:sp>
      <p:sp>
        <p:nvSpPr>
          <p:cNvPr id="51" name="H1"/>
          <p:cNvSpPr/>
          <p:nvPr/>
        </p:nvSpPr>
        <p:spPr>
          <a:xfrm>
            <a:off x="3102152" y="3231772"/>
            <a:ext cx="1468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58A6FF"/>
                </a:solidFill>
                <a:latin typeface="Consolas"/>
              </a:rPr>
              <a:t>PLACED</a:t>
            </a:r>
          </a:p>
        </p:txBody>
      </p:sp>
      <p:sp>
        <p:nvSpPr>
          <p:cNvPr id="52" name="H2"/>
          <p:cNvSpPr/>
          <p:nvPr/>
        </p:nvSpPr>
        <p:spPr>
          <a:xfrm>
            <a:off x="4570152" y="3231772"/>
            <a:ext cx="1468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3FB950"/>
                </a:solidFill>
                <a:latin typeface="Consolas"/>
              </a:rPr>
              <a:t>CONFIRMED</a:t>
            </a:r>
          </a:p>
        </p:txBody>
      </p:sp>
      <p:sp>
        <p:nvSpPr>
          <p:cNvPr id="53" name="H3"/>
          <p:cNvSpPr/>
          <p:nvPr/>
        </p:nvSpPr>
        <p:spPr>
          <a:xfrm>
            <a:off x="6038152" y="3231772"/>
            <a:ext cx="1468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FFA657"/>
                </a:solidFill>
                <a:latin typeface="Consolas"/>
              </a:rPr>
              <a:t>SHIPPED</a:t>
            </a:r>
          </a:p>
        </p:txBody>
      </p:sp>
      <p:sp>
        <p:nvSpPr>
          <p:cNvPr id="54" name="H4"/>
          <p:cNvSpPr/>
          <p:nvPr/>
        </p:nvSpPr>
        <p:spPr>
          <a:xfrm>
            <a:off x="7506152" y="3231772"/>
            <a:ext cx="1468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D2A8FF"/>
                </a:solidFill>
                <a:latin typeface="Consolas"/>
              </a:rPr>
              <a:t>DELIVERED</a:t>
            </a:r>
          </a:p>
        </p:txBody>
      </p:sp>
      <p:sp>
        <p:nvSpPr>
          <p:cNvPr id="55" name="H5"/>
          <p:cNvSpPr/>
          <p:nvPr/>
        </p:nvSpPr>
        <p:spPr>
          <a:xfrm>
            <a:off x="8974152" y="3231772"/>
            <a:ext cx="1468000" cy="33000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txBody>
          <a:bodyPr lIns="60000" tIns="0" rIns="0" bIns="0" anchor="ctr"/>
          <a:lstStyle/>
          <a:p>
            <a:r>
              <a:rPr lang="en-US" sz="1100" b="1" dirty="0">
                <a:solidFill>
                  <a:srgbClr val="F78166"/>
                </a:solidFill>
                <a:latin typeface="Consolas"/>
              </a:rPr>
              <a:t>CANCELLED</a:t>
            </a:r>
          </a:p>
        </p:txBody>
      </p:sp>
      <p:sp>
        <p:nvSpPr>
          <p:cNvPr id="60" name="C00"/>
          <p:cNvSpPr/>
          <p:nvPr/>
        </p:nvSpPr>
        <p:spPr>
          <a:xfrm>
            <a:off x="1502152" y="3591772"/>
            <a:ext cx="1600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l"/>
            <a:r>
              <a:rPr lang="en-US" sz="1100" dirty="0">
                <a:solidFill>
                  <a:srgbClr val="C9D1D9"/>
                </a:solidFill>
                <a:latin typeface="Consolas"/>
              </a:rPr>
              <a:t>confirm()</a:t>
            </a:r>
          </a:p>
        </p:txBody>
      </p:sp>
      <p:sp>
        <p:nvSpPr>
          <p:cNvPr id="61" name="C01"/>
          <p:cNvSpPr/>
          <p:nvPr/>
        </p:nvSpPr>
        <p:spPr>
          <a:xfrm>
            <a:off x="3102152" y="359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3FB950"/>
                </a:solidFill>
                <a:latin typeface="Consolas"/>
              </a:rPr>
              <a:t>✅</a:t>
            </a:r>
          </a:p>
        </p:txBody>
      </p:sp>
      <p:sp>
        <p:nvSpPr>
          <p:cNvPr id="62" name="C02"/>
          <p:cNvSpPr/>
          <p:nvPr/>
        </p:nvSpPr>
        <p:spPr>
          <a:xfrm>
            <a:off x="4570152" y="359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63" name="C03"/>
          <p:cNvSpPr/>
          <p:nvPr/>
        </p:nvSpPr>
        <p:spPr>
          <a:xfrm>
            <a:off x="6038152" y="359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64" name="C04"/>
          <p:cNvSpPr/>
          <p:nvPr/>
        </p:nvSpPr>
        <p:spPr>
          <a:xfrm>
            <a:off x="7506152" y="359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65" name="C05"/>
          <p:cNvSpPr/>
          <p:nvPr/>
        </p:nvSpPr>
        <p:spPr>
          <a:xfrm>
            <a:off x="8974152" y="359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66" name="C10"/>
          <p:cNvSpPr/>
          <p:nvPr/>
        </p:nvSpPr>
        <p:spPr>
          <a:xfrm>
            <a:off x="1502152" y="3951772"/>
            <a:ext cx="1600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l"/>
            <a:r>
              <a:rPr lang="en-US" sz="1100" dirty="0">
                <a:solidFill>
                  <a:srgbClr val="C9D1D9"/>
                </a:solidFill>
                <a:latin typeface="Consolas"/>
              </a:rPr>
              <a:t>ship()</a:t>
            </a:r>
          </a:p>
        </p:txBody>
      </p:sp>
      <p:sp>
        <p:nvSpPr>
          <p:cNvPr id="67" name="C11"/>
          <p:cNvSpPr/>
          <p:nvPr/>
        </p:nvSpPr>
        <p:spPr>
          <a:xfrm>
            <a:off x="3102152" y="395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68" name="C12"/>
          <p:cNvSpPr/>
          <p:nvPr/>
        </p:nvSpPr>
        <p:spPr>
          <a:xfrm>
            <a:off x="4570152" y="395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3FB950"/>
                </a:solidFill>
                <a:latin typeface="Consolas"/>
              </a:rPr>
              <a:t>✅</a:t>
            </a:r>
          </a:p>
        </p:txBody>
      </p:sp>
      <p:sp>
        <p:nvSpPr>
          <p:cNvPr id="69" name="C13"/>
          <p:cNvSpPr/>
          <p:nvPr/>
        </p:nvSpPr>
        <p:spPr>
          <a:xfrm>
            <a:off x="6038152" y="395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0" name="C14"/>
          <p:cNvSpPr/>
          <p:nvPr/>
        </p:nvSpPr>
        <p:spPr>
          <a:xfrm>
            <a:off x="7506152" y="395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1" name="C15"/>
          <p:cNvSpPr/>
          <p:nvPr/>
        </p:nvSpPr>
        <p:spPr>
          <a:xfrm>
            <a:off x="8974152" y="395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2" name="C20"/>
          <p:cNvSpPr/>
          <p:nvPr/>
        </p:nvSpPr>
        <p:spPr>
          <a:xfrm>
            <a:off x="1502152" y="4311772"/>
            <a:ext cx="1600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l"/>
            <a:r>
              <a:rPr lang="en-US" sz="1100" dirty="0">
                <a:solidFill>
                  <a:srgbClr val="C9D1D9"/>
                </a:solidFill>
                <a:latin typeface="Consolas"/>
              </a:rPr>
              <a:t>deliver()</a:t>
            </a:r>
          </a:p>
        </p:txBody>
      </p:sp>
      <p:sp>
        <p:nvSpPr>
          <p:cNvPr id="73" name="C21"/>
          <p:cNvSpPr/>
          <p:nvPr/>
        </p:nvSpPr>
        <p:spPr>
          <a:xfrm>
            <a:off x="3102152" y="431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4" name="C22"/>
          <p:cNvSpPr/>
          <p:nvPr/>
        </p:nvSpPr>
        <p:spPr>
          <a:xfrm>
            <a:off x="4570152" y="431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5" name="C23"/>
          <p:cNvSpPr/>
          <p:nvPr/>
        </p:nvSpPr>
        <p:spPr>
          <a:xfrm>
            <a:off x="6038152" y="431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3FB950"/>
                </a:solidFill>
                <a:latin typeface="Consolas"/>
              </a:rPr>
              <a:t>✅</a:t>
            </a:r>
          </a:p>
        </p:txBody>
      </p:sp>
      <p:sp>
        <p:nvSpPr>
          <p:cNvPr id="76" name="C24"/>
          <p:cNvSpPr/>
          <p:nvPr/>
        </p:nvSpPr>
        <p:spPr>
          <a:xfrm>
            <a:off x="7506152" y="431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7" name="C25"/>
          <p:cNvSpPr/>
          <p:nvPr/>
        </p:nvSpPr>
        <p:spPr>
          <a:xfrm>
            <a:off x="8974152" y="4311772"/>
            <a:ext cx="1468000" cy="33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78" name="C30"/>
          <p:cNvSpPr/>
          <p:nvPr/>
        </p:nvSpPr>
        <p:spPr>
          <a:xfrm>
            <a:off x="1502152" y="4671772"/>
            <a:ext cx="1600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l"/>
            <a:r>
              <a:rPr lang="en-US" sz="1100" dirty="0">
                <a:solidFill>
                  <a:srgbClr val="C9D1D9"/>
                </a:solidFill>
                <a:latin typeface="Consolas"/>
              </a:rPr>
              <a:t>cancel()</a:t>
            </a:r>
          </a:p>
        </p:txBody>
      </p:sp>
      <p:sp>
        <p:nvSpPr>
          <p:cNvPr id="79" name="C31"/>
          <p:cNvSpPr/>
          <p:nvPr/>
        </p:nvSpPr>
        <p:spPr>
          <a:xfrm>
            <a:off x="3102152" y="467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3FB950"/>
                </a:solidFill>
                <a:latin typeface="Consolas"/>
              </a:rPr>
              <a:t>✅</a:t>
            </a:r>
          </a:p>
        </p:txBody>
      </p:sp>
      <p:sp>
        <p:nvSpPr>
          <p:cNvPr id="80" name="C32"/>
          <p:cNvSpPr/>
          <p:nvPr/>
        </p:nvSpPr>
        <p:spPr>
          <a:xfrm>
            <a:off x="4570152" y="467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3FB950"/>
                </a:solidFill>
                <a:latin typeface="Consolas"/>
              </a:rPr>
              <a:t>✅</a:t>
            </a:r>
          </a:p>
        </p:txBody>
      </p:sp>
      <p:sp>
        <p:nvSpPr>
          <p:cNvPr id="81" name="C33"/>
          <p:cNvSpPr/>
          <p:nvPr/>
        </p:nvSpPr>
        <p:spPr>
          <a:xfrm>
            <a:off x="6038152" y="467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82" name="C34"/>
          <p:cNvSpPr/>
          <p:nvPr/>
        </p:nvSpPr>
        <p:spPr>
          <a:xfrm>
            <a:off x="7506152" y="467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  <p:sp>
        <p:nvSpPr>
          <p:cNvPr id="83" name="C35"/>
          <p:cNvSpPr/>
          <p:nvPr/>
        </p:nvSpPr>
        <p:spPr>
          <a:xfrm>
            <a:off x="8974152" y="4671772"/>
            <a:ext cx="1468000" cy="330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lIns="60000" tIns="0" rIns="0" bIns="0" anchor="ctr"/>
          <a:lstStyle/>
          <a:p>
            <a:pPr algn="ctr"/>
            <a:r>
              <a:rPr lang="en-US" sz="1100" dirty="0">
                <a:solidFill>
                  <a:srgbClr val="F78166"/>
                </a:solidFill>
                <a:latin typeface="Consolas"/>
              </a:rPr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23566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572228" y="299012"/>
            <a:ext cx="56582" cy="6414305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572228" y="6715645"/>
            <a:ext cx="9250101" cy="142355"/>
          </a:xfrm>
          <a:prstGeom prst="rect">
            <a:avLst/>
          </a:prstGeom>
          <a:gradFill>
            <a:gsLst>
              <a:gs pos="0">
                <a:srgbClr val="F78166"/>
              </a:gs>
              <a:gs pos="50000">
                <a:srgbClr val="D2A8FF"/>
              </a:gs>
              <a:gs pos="100000">
                <a:srgbClr val="FFA657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772228" y="188936"/>
            <a:ext cx="5567518" cy="451064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The Naive Code: </a:t>
            </a:r>
            <a:r>
              <a:rPr lang="en-US" sz="2800" b="1" dirty="0">
                <a:solidFill>
                  <a:srgbClr val="F78166"/>
                </a:solidFill>
                <a:latin typeface="Segoe UI Semibold"/>
              </a:rPr>
              <a:t>The Monster Method</a:t>
            </a:r>
          </a:p>
        </p:txBody>
      </p:sp>
      <p:sp>
        <p:nvSpPr>
          <p:cNvPr id="13" name="WarnBadge"/>
          <p:cNvSpPr/>
          <p:nvPr/>
        </p:nvSpPr>
        <p:spPr>
          <a:xfrm>
            <a:off x="7372228" y="188936"/>
            <a:ext cx="3138582" cy="451064"/>
          </a:xfrm>
          <a:prstGeom prst="roundRect">
            <a:avLst>
              <a:gd name="adj" fmla="val 16667"/>
            </a:avLst>
          </a:prstGeom>
          <a:solidFill>
            <a:srgbClr val="F78166">
              <a:alpha val="15000"/>
            </a:srgbClr>
          </a:solidFill>
          <a:ln w="19050">
            <a:solidFill>
              <a:srgbClr val="F78166"/>
            </a:solidFill>
          </a:ln>
        </p:spPr>
        <p:txBody>
          <a:bodyPr lIns="120000" tIns="0" rIns="120000" bIns="0" anchor="ctr"/>
          <a:lstStyle/>
          <a:p>
            <a:pPr algn="ctr"/>
            <a:r>
              <a:rPr lang="en-US" sz="1400" b="1" dirty="0">
                <a:solidFill>
                  <a:srgbClr val="F78166"/>
                </a:solidFill>
              </a:rPr>
              <a:t>😵 Real code at your company looks like this</a:t>
            </a:r>
          </a:p>
        </p:txBody>
      </p:sp>
      <p:sp>
        <p:nvSpPr>
          <p:cNvPr id="14" name="CodeBlock"/>
          <p:cNvSpPr/>
          <p:nvPr/>
        </p:nvSpPr>
        <p:spPr>
          <a:xfrm>
            <a:off x="1772228" y="1106176"/>
            <a:ext cx="5457873" cy="5423824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150000" tIns="120000" rIns="150000" bIns="120000"/>
          <a:lstStyle/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// OrderService.java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cancel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 {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if 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(status.equals("PLACED")) {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status = "CANCELLED";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refundPayment();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else if 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(status.equals("CONFIRMED")) {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status = "CANCELLED";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refundPayment();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notifyWarehouse();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else if 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(status.equals("SHIPPED")) {</a:t>
            </a:r>
          </a:p>
          <a:p>
            <a:r>
              <a:rPr lang="en-US" sz="1000" dirty="0">
                <a:solidFill>
                  <a:srgbClr val="F78166"/>
                </a:solidFill>
                <a:latin typeface="Consolas"/>
              </a:rPr>
              <a:t>    throw new IllegalStateEx("Cannot cancel!");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else if 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(status.equals("DELIVERED")) {</a:t>
            </a:r>
          </a:p>
          <a:p>
            <a:r>
              <a:rPr lang="en-US" sz="1000" dirty="0">
                <a:solidFill>
                  <a:srgbClr val="F78166"/>
                </a:solidFill>
                <a:latin typeface="Consolas"/>
              </a:rPr>
              <a:t>    throw new IllegalStateEx("Cannot cancel!");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  // And confirm(), ship(), deliver() each have</a:t>
            </a:r>
          </a:p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  // the SAME if/else pattern... 200+ lines total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20" name="Prob20"/>
          <p:cNvSpPr/>
          <p:nvPr/>
        </p:nvSpPr>
        <p:spPr>
          <a:xfrm>
            <a:off x="7372228" y="816809"/>
            <a:ext cx="3138582" cy="1263191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50000" tIns="100000" rIns="150000" bIns="100000"/>
          <a:lstStyle/>
          <a:p>
            <a:r>
              <a:rPr lang="en-US" sz="1400" b="1" dirty="0">
                <a:solidFill>
                  <a:srgbClr val="F78166"/>
                </a:solidFill>
              </a:rPr>
              <a:t>💥 Scattered Logic</a:t>
            </a:r>
          </a:p>
          <a:p>
            <a:r>
              <a:rPr lang="en-US" sz="1100" dirty="0">
                <a:solidFill>
                  <a:srgbClr val="8B949E"/>
                </a:solidFill>
              </a:rPr>
              <a:t>State-handling code is split across confirm(), ship(), deliver(), cancel() — 4 methods, same if/else</a:t>
            </a:r>
          </a:p>
        </p:txBody>
      </p:sp>
      <p:sp>
        <p:nvSpPr>
          <p:cNvPr id="21" name="Prob21"/>
          <p:cNvSpPr/>
          <p:nvPr/>
        </p:nvSpPr>
        <p:spPr>
          <a:xfrm>
            <a:off x="7372228" y="2316809"/>
            <a:ext cx="3138582" cy="1263191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50000" tIns="100000" rIns="150000" bIns="100000"/>
          <a:lstStyle/>
          <a:p>
            <a:r>
              <a:rPr lang="en-US" sz="1400" b="1" dirty="0">
                <a:solidFill>
                  <a:srgbClr val="FFA657"/>
                </a:solidFill>
              </a:rPr>
              <a:t>🔗 Tight Coupling</a:t>
            </a:r>
          </a:p>
          <a:p>
            <a:r>
              <a:rPr lang="en-US" sz="1100" dirty="0">
                <a:solidFill>
                  <a:srgbClr val="8B949E"/>
                </a:solidFill>
              </a:rPr>
              <a:t>Adding RETURN_REQUESTED state means editing ALL 4 methods and retesting everything</a:t>
            </a:r>
          </a:p>
        </p:txBody>
      </p:sp>
      <p:sp>
        <p:nvSpPr>
          <p:cNvPr id="22" name="Prob22"/>
          <p:cNvSpPr/>
          <p:nvPr/>
        </p:nvSpPr>
        <p:spPr>
          <a:xfrm>
            <a:off x="7372228" y="3816809"/>
            <a:ext cx="3138582" cy="1263191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50000" tIns="100000" rIns="150000" bIns="100000"/>
          <a:lstStyle/>
          <a:p>
            <a:r>
              <a:rPr lang="en-US" sz="1400" b="1" dirty="0">
                <a:solidFill>
                  <a:srgbClr val="D2A8FF"/>
                </a:solidFill>
              </a:rPr>
              <a:t>🧪 Untestable</a:t>
            </a:r>
          </a:p>
          <a:p>
            <a:r>
              <a:rPr lang="en-US" sz="1100" dirty="0">
                <a:solidFill>
                  <a:srgbClr val="8B949E"/>
                </a:solidFill>
              </a:rPr>
              <a:t>You can't test PLACED+cancel() in isolation — it's buried in a 200-line method</a:t>
            </a:r>
          </a:p>
        </p:txBody>
      </p:sp>
      <p:sp>
        <p:nvSpPr>
          <p:cNvPr id="23" name="Prob23"/>
          <p:cNvSpPr/>
          <p:nvPr/>
        </p:nvSpPr>
        <p:spPr>
          <a:xfrm>
            <a:off x="7372228" y="5316809"/>
            <a:ext cx="3138582" cy="1263191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50000" tIns="100000" rIns="150000" bIns="100000"/>
          <a:lstStyle/>
          <a:p>
            <a:r>
              <a:rPr lang="en-US" sz="1400" b="1" dirty="0">
                <a:solidFill>
                  <a:srgbClr val="F78166"/>
                </a:solidFill>
              </a:rPr>
              <a:t>☠️ Bug Magnet</a:t>
            </a:r>
          </a:p>
          <a:p>
            <a:r>
              <a:rPr lang="en-US" sz="1100" dirty="0">
                <a:solidFill>
                  <a:srgbClr val="8B949E"/>
                </a:solidFill>
              </a:rPr>
              <a:t>Miss one else-if branch = silent failure. This is the exact bug in BUG-4892!</a:t>
            </a:r>
          </a:p>
        </p:txBody>
      </p:sp>
    </p:spTree>
    <p:extLst>
      <p:ext uri="{BB962C8B-B14F-4D97-AF65-F5344CB8AC3E}">
        <p14:creationId xmlns:p14="http://schemas.microsoft.com/office/powerpoint/2010/main" val="1276539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543291" y="-19291"/>
            <a:ext cx="18000" cy="68580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543291" y="6686709"/>
            <a:ext cx="9144000" cy="152000"/>
          </a:xfrm>
          <a:prstGeom prst="rect">
            <a:avLst/>
          </a:prstGeom>
          <a:gradFill>
            <a:gsLst>
              <a:gs pos="0">
                <a:srgbClr val="FFA657"/>
              </a:gs>
              <a:gs pos="50000">
                <a:srgbClr val="F78166"/>
              </a:gs>
              <a:gs pos="100000">
                <a:srgbClr val="D2A8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743291" y="140709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Why It Breaks: </a:t>
            </a:r>
            <a:r>
              <a:rPr lang="en-US" sz="2800" b="1" dirty="0">
                <a:solidFill>
                  <a:srgbClr val="FFA657"/>
                </a:solidFill>
                <a:latin typeface="Segoe UI Semibold"/>
              </a:rPr>
              <a:t>Adding One State = Pain Everywhere</a:t>
            </a:r>
          </a:p>
        </p:txBody>
      </p:sp>
      <p:sp>
        <p:nvSpPr>
          <p:cNvPr id="13" name="Scenario"/>
          <p:cNvSpPr/>
          <p:nvPr/>
        </p:nvSpPr>
        <p:spPr>
          <a:xfrm>
            <a:off x="1743291" y="710709"/>
            <a:ext cx="8700000" cy="3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lIns="180000" tIns="0" rIns="180000" bIns="0" anchor="ctr"/>
          <a:lstStyle/>
          <a:p>
            <a:r>
              <a:rPr lang="en-US" sz="1600" b="1" dirty="0">
                <a:solidFill>
                  <a:srgbClr val="FFA657"/>
                </a:solidFill>
              </a:rPr>
              <a:t>🆕 New Requirement: Add </a:t>
            </a:r>
            <a:r>
              <a:rPr lang="en-US" sz="1600" b="1" dirty="0">
                <a:solidFill>
                  <a:srgbClr val="F0F6FC"/>
                </a:solidFill>
                <a:latin typeface="Consolas"/>
              </a:rPr>
              <a:t>RETURN_REQUESTED</a:t>
            </a:r>
            <a:r>
              <a:rPr lang="en-US" sz="1600" b="1" dirty="0">
                <a:solidFill>
                  <a:srgbClr val="FFA657"/>
                </a:solidFill>
              </a:rPr>
              <a:t> state</a:t>
            </a:r>
          </a:p>
        </p:txBody>
      </p:sp>
      <p:sp>
        <p:nvSpPr>
          <p:cNvPr id="20" name="Meth0"/>
          <p:cNvSpPr/>
          <p:nvPr/>
        </p:nvSpPr>
        <p:spPr>
          <a:xfrm>
            <a:off x="1743291" y="1230709"/>
            <a:ext cx="1900000" cy="6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2000">
            <a:solidFill>
              <a:srgbClr val="58A6FF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400" b="1" dirty="0">
                <a:solidFill>
                  <a:srgbClr val="58A6FF"/>
                </a:solidFill>
                <a:latin typeface="Consolas"/>
              </a:rPr>
              <a:t>confirm()</a:t>
            </a:r>
          </a:p>
          <a:p>
            <a:pPr algn="ctr"/>
            <a:r>
              <a:rPr lang="en-US" sz="1100" dirty="0">
                <a:solidFill>
                  <a:srgbClr val="F78166"/>
                </a:solidFill>
              </a:rPr>
              <a:t>MUST be edited</a:t>
            </a:r>
          </a:p>
        </p:txBody>
      </p:sp>
      <p:sp>
        <p:nvSpPr>
          <p:cNvPr id="30" name="X0"/>
          <p:cNvSpPr/>
          <p:nvPr/>
        </p:nvSpPr>
        <p:spPr>
          <a:xfrm>
            <a:off x="2193291" y="1900709"/>
            <a:ext cx="400000" cy="400000"/>
          </a:xfrm>
          <a:prstGeom prst="ellipse">
            <a:avLst/>
          </a:prstGeom>
          <a:solidFill>
            <a:srgbClr val="F78166">
              <a:alpha val="20000"/>
            </a:srgbClr>
          </a:solidFill>
          <a:ln w="19050">
            <a:solidFill>
              <a:srgbClr val="F7816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78166"/>
                </a:solidFill>
              </a:rPr>
              <a:t>!</a:t>
            </a:r>
          </a:p>
        </p:txBody>
      </p:sp>
      <p:sp>
        <p:nvSpPr>
          <p:cNvPr id="21" name="Meth1"/>
          <p:cNvSpPr/>
          <p:nvPr/>
        </p:nvSpPr>
        <p:spPr>
          <a:xfrm>
            <a:off x="3943291" y="1230709"/>
            <a:ext cx="1900000" cy="6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2000">
            <a:solidFill>
              <a:srgbClr val="3FB950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400" b="1" dirty="0">
                <a:solidFill>
                  <a:srgbClr val="3FB950"/>
                </a:solidFill>
                <a:latin typeface="Consolas"/>
              </a:rPr>
              <a:t>ship()</a:t>
            </a:r>
          </a:p>
          <a:p>
            <a:pPr algn="ctr"/>
            <a:r>
              <a:rPr lang="en-US" sz="1100" dirty="0">
                <a:solidFill>
                  <a:srgbClr val="F78166"/>
                </a:solidFill>
              </a:rPr>
              <a:t>MUST be edited</a:t>
            </a:r>
          </a:p>
        </p:txBody>
      </p:sp>
      <p:sp>
        <p:nvSpPr>
          <p:cNvPr id="31" name="X1"/>
          <p:cNvSpPr/>
          <p:nvPr/>
        </p:nvSpPr>
        <p:spPr>
          <a:xfrm>
            <a:off x="4393291" y="1900709"/>
            <a:ext cx="400000" cy="400000"/>
          </a:xfrm>
          <a:prstGeom prst="ellipse">
            <a:avLst/>
          </a:prstGeom>
          <a:solidFill>
            <a:srgbClr val="F78166">
              <a:alpha val="20000"/>
            </a:srgbClr>
          </a:solidFill>
          <a:ln w="19050">
            <a:solidFill>
              <a:srgbClr val="F7816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78166"/>
                </a:solidFill>
              </a:rPr>
              <a:t>!</a:t>
            </a:r>
          </a:p>
        </p:txBody>
      </p:sp>
      <p:sp>
        <p:nvSpPr>
          <p:cNvPr id="22" name="Meth2"/>
          <p:cNvSpPr/>
          <p:nvPr/>
        </p:nvSpPr>
        <p:spPr>
          <a:xfrm>
            <a:off x="6143291" y="1230709"/>
            <a:ext cx="1900000" cy="6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2000">
            <a:solidFill>
              <a:srgbClr val="D2A8FF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400" b="1" dirty="0">
                <a:solidFill>
                  <a:srgbClr val="D2A8FF"/>
                </a:solidFill>
                <a:latin typeface="Consolas"/>
              </a:rPr>
              <a:t>deliver()</a:t>
            </a:r>
          </a:p>
          <a:p>
            <a:pPr algn="ctr"/>
            <a:r>
              <a:rPr lang="en-US" sz="1100" dirty="0">
                <a:solidFill>
                  <a:srgbClr val="F78166"/>
                </a:solidFill>
              </a:rPr>
              <a:t>MUST be edited</a:t>
            </a:r>
          </a:p>
        </p:txBody>
      </p:sp>
      <p:sp>
        <p:nvSpPr>
          <p:cNvPr id="32" name="X2"/>
          <p:cNvSpPr/>
          <p:nvPr/>
        </p:nvSpPr>
        <p:spPr>
          <a:xfrm>
            <a:off x="6593291" y="1900709"/>
            <a:ext cx="400000" cy="400000"/>
          </a:xfrm>
          <a:prstGeom prst="ellipse">
            <a:avLst/>
          </a:prstGeom>
          <a:solidFill>
            <a:srgbClr val="F78166">
              <a:alpha val="20000"/>
            </a:srgbClr>
          </a:solidFill>
          <a:ln w="19050">
            <a:solidFill>
              <a:srgbClr val="F7816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78166"/>
                </a:solidFill>
              </a:rPr>
              <a:t>!</a:t>
            </a:r>
          </a:p>
        </p:txBody>
      </p:sp>
      <p:sp>
        <p:nvSpPr>
          <p:cNvPr id="23" name="Meth3"/>
          <p:cNvSpPr/>
          <p:nvPr/>
        </p:nvSpPr>
        <p:spPr>
          <a:xfrm>
            <a:off x="8343291" y="1230709"/>
            <a:ext cx="1900000" cy="6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2000">
            <a:solidFill>
              <a:srgbClr val="F78166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400" b="1" dirty="0">
                <a:solidFill>
                  <a:srgbClr val="F78166"/>
                </a:solidFill>
                <a:latin typeface="Consolas"/>
              </a:rPr>
              <a:t>cancel()</a:t>
            </a:r>
          </a:p>
          <a:p>
            <a:pPr algn="ctr"/>
            <a:r>
              <a:rPr lang="en-US" sz="1100" dirty="0">
                <a:solidFill>
                  <a:srgbClr val="F78166"/>
                </a:solidFill>
              </a:rPr>
              <a:t>MUST be edited</a:t>
            </a:r>
          </a:p>
        </p:txBody>
      </p:sp>
      <p:sp>
        <p:nvSpPr>
          <p:cNvPr id="33" name="X3"/>
          <p:cNvSpPr/>
          <p:nvPr/>
        </p:nvSpPr>
        <p:spPr>
          <a:xfrm>
            <a:off x="8793291" y="1900709"/>
            <a:ext cx="400000" cy="400000"/>
          </a:xfrm>
          <a:prstGeom prst="ellipse">
            <a:avLst/>
          </a:prstGeom>
          <a:solidFill>
            <a:srgbClr val="F78166">
              <a:alpha val="20000"/>
            </a:srgbClr>
          </a:solidFill>
          <a:ln w="19050">
            <a:solidFill>
              <a:srgbClr val="F7816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78166"/>
                </a:solidFill>
              </a:rPr>
              <a:t>!</a:t>
            </a:r>
          </a:p>
        </p:txBody>
      </p:sp>
      <p:sp>
        <p:nvSpPr>
          <p:cNvPr id="40" name="SOLIDHdr"/>
          <p:cNvSpPr/>
          <p:nvPr/>
        </p:nvSpPr>
        <p:spPr>
          <a:xfrm>
            <a:off x="1743291" y="2480709"/>
            <a:ext cx="8700000" cy="3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800" b="1" dirty="0">
                <a:solidFill>
                  <a:srgbClr val="F0F6FC"/>
                </a:solidFill>
              </a:rPr>
              <a:t>🧱 SOLID Principles Violated:</a:t>
            </a:r>
          </a:p>
        </p:txBody>
      </p:sp>
      <p:sp>
        <p:nvSpPr>
          <p:cNvPr id="41" name="Viol0"/>
          <p:cNvSpPr/>
          <p:nvPr/>
        </p:nvSpPr>
        <p:spPr>
          <a:xfrm>
            <a:off x="1743291" y="2930709"/>
            <a:ext cx="87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80000" tIns="100000" rIns="180000" bIns="100000"/>
          <a:lstStyle/>
          <a:p>
            <a:r>
              <a:rPr lang="en-US" sz="1500" b="1" dirty="0">
                <a:solidFill>
                  <a:srgbClr val="F78166"/>
                </a:solidFill>
              </a:rPr>
              <a:t>S — Single Responsibility</a:t>
            </a:r>
          </a:p>
          <a:p>
            <a:r>
              <a:rPr lang="en-US" sz="1200" dirty="0">
                <a:solidFill>
                  <a:srgbClr val="C9D1D9"/>
                </a:solidFill>
              </a:rPr>
              <a:t>OrderService handles ALL state logic. One class, too many reasons to change.</a:t>
            </a:r>
          </a:p>
        </p:txBody>
      </p:sp>
      <p:sp>
        <p:nvSpPr>
          <p:cNvPr id="42" name="Viol1"/>
          <p:cNvSpPr/>
          <p:nvPr/>
        </p:nvSpPr>
        <p:spPr>
          <a:xfrm>
            <a:off x="1743291" y="4030709"/>
            <a:ext cx="87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80000" tIns="100000" rIns="180000" bIns="100000"/>
          <a:lstStyle/>
          <a:p>
            <a:r>
              <a:rPr lang="en-US" sz="1500" b="1" dirty="0">
                <a:solidFill>
                  <a:srgbClr val="FFA657"/>
                </a:solidFill>
              </a:rPr>
              <a:t>O — Open/Closed</a:t>
            </a:r>
          </a:p>
          <a:p>
            <a:r>
              <a:rPr lang="en-US" sz="1200" dirty="0">
                <a:solidFill>
                  <a:srgbClr val="C9D1D9"/>
                </a:solidFill>
              </a:rPr>
              <a:t>NOT open for extension. Adding a state forces you to MODIFY existing methods.</a:t>
            </a:r>
          </a:p>
        </p:txBody>
      </p:sp>
      <p:sp>
        <p:nvSpPr>
          <p:cNvPr id="43" name="Viol2"/>
          <p:cNvSpPr/>
          <p:nvPr/>
        </p:nvSpPr>
        <p:spPr>
          <a:xfrm>
            <a:off x="1743291" y="5130709"/>
            <a:ext cx="87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80000" tIns="100000" rIns="180000" bIns="100000"/>
          <a:lstStyle/>
          <a:p>
            <a:r>
              <a:rPr lang="en-US" sz="1500" b="1" dirty="0">
                <a:solidFill>
                  <a:srgbClr val="D2A8FF"/>
                </a:solidFill>
              </a:rPr>
              <a:t>L — Liskov Substitution</a:t>
            </a:r>
          </a:p>
          <a:p>
            <a:r>
              <a:rPr lang="en-US" sz="1200" dirty="0">
                <a:solidFill>
                  <a:srgbClr val="C9D1D9"/>
                </a:solidFill>
              </a:rPr>
              <a:t>State-specific behavior can't be polymorphically substituted — it's all in one class.</a:t>
            </a:r>
          </a:p>
        </p:txBody>
      </p:sp>
    </p:spTree>
    <p:extLst>
      <p:ext uri="{BB962C8B-B14F-4D97-AF65-F5344CB8AC3E}">
        <p14:creationId xmlns:p14="http://schemas.microsoft.com/office/powerpoint/2010/main" val="404205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639747" y="-38582"/>
            <a:ext cx="18000" cy="6858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639747" y="6667418"/>
            <a:ext cx="9144000" cy="152000"/>
          </a:xfrm>
          <a:prstGeom prst="rect">
            <a:avLst/>
          </a:prstGeom>
          <a:gradFill>
            <a:gsLst>
              <a:gs pos="0">
                <a:srgbClr val="D2A8FF"/>
              </a:gs>
              <a:gs pos="50000">
                <a:srgbClr val="58A6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Icon"/>
          <p:cNvSpPr/>
          <p:nvPr/>
        </p:nvSpPr>
        <p:spPr>
          <a:xfrm>
            <a:off x="5511747" y="141418"/>
            <a:ext cx="1400000" cy="1400000"/>
          </a:xfrm>
          <a:prstGeom prst="ellipse">
            <a:avLst/>
          </a:prstGeom>
          <a:solidFill>
            <a:srgbClr val="D2A8FF">
              <a:alpha val="15000"/>
            </a:srgbClr>
          </a:solidFill>
          <a:ln w="25400">
            <a:solidFill>
              <a:srgbClr val="D2A8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5600" dirty="0">
                <a:solidFill>
                  <a:srgbClr val="D2A8FF"/>
                </a:solidFill>
              </a:rPr>
              <a:t>💡</a:t>
            </a:r>
          </a:p>
        </p:txBody>
      </p:sp>
      <p:sp>
        <p:nvSpPr>
          <p:cNvPr id="13" name="AhaQuote"/>
          <p:cNvSpPr/>
          <p:nvPr/>
        </p:nvSpPr>
        <p:spPr>
          <a:xfrm>
            <a:off x="2039747" y="1661418"/>
            <a:ext cx="8300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3200" b="1" i="1" dirty="0">
                <a:solidFill>
                  <a:srgbClr val="F0F6FC"/>
                </a:solidFill>
                <a:latin typeface="Segoe UI Semibold"/>
              </a:rPr>
              <a:t>"What if each </a:t>
            </a:r>
            <a:r>
              <a:rPr lang="en-US" sz="3200" b="1" i="1" dirty="0">
                <a:solidFill>
                  <a:srgbClr val="D2A8FF"/>
                </a:solidFill>
                <a:latin typeface="Segoe UI Semibold"/>
              </a:rPr>
              <a:t>state</a:t>
            </a:r>
            <a:r>
              <a:rPr lang="en-US" sz="3200" b="1" i="1" dirty="0">
                <a:solidFill>
                  <a:srgbClr val="F0F6FC"/>
                </a:solidFill>
                <a:latin typeface="Segoe UI Semibold"/>
              </a:rPr>
              <a:t> was its own </a:t>
            </a:r>
            <a:r>
              <a:rPr lang="en-US" sz="3200" b="1" i="1" dirty="0">
                <a:solidFill>
                  <a:srgbClr val="58A6FF"/>
                </a:solidFill>
                <a:latin typeface="Segoe UI Semibold"/>
              </a:rPr>
              <a:t>object</a:t>
            </a:r>
            <a:r>
              <a:rPr lang="en-US" sz="3200" b="1" i="1" dirty="0">
                <a:solidFill>
                  <a:srgbClr val="F0F6FC"/>
                </a:solidFill>
                <a:latin typeface="Segoe UI Semibold"/>
              </a:rPr>
              <a:t>?"</a:t>
            </a:r>
          </a:p>
        </p:txBody>
      </p:sp>
      <p:sp>
        <p:nvSpPr>
          <p:cNvPr id="20" name="Ins0"/>
          <p:cNvSpPr/>
          <p:nvPr/>
        </p:nvSpPr>
        <p:spPr>
          <a:xfrm>
            <a:off x="1839747" y="2561418"/>
            <a:ext cx="2750000" cy="18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5400">
            <a:solidFill>
              <a:srgbClr val="58A6FF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3600" dirty="0">
                <a:solidFill>
                  <a:srgbClr val="58A6FF"/>
                </a:solidFill>
              </a:rPr>
              <a:t>📦</a:t>
            </a:r>
          </a:p>
          <a:p>
            <a:pPr algn="ctr"/>
            <a:r>
              <a:rPr lang="en-US" sz="1400" b="1" dirty="0">
                <a:solidFill>
                  <a:srgbClr val="58A6FF"/>
                </a:solidFill>
              </a:rPr>
              <a:t>Each state becomes a class</a:t>
            </a:r>
          </a:p>
          <a:p>
            <a:r>
              <a:rPr lang="en-US" sz="1100" dirty="0">
                <a:solidFill>
                  <a:srgbClr val="8B949E"/>
                </a:solidFill>
              </a:rPr>
              <a:t>PlacedState, ShippedState, DeliveredState — each owns its own behavior</a:t>
            </a:r>
          </a:p>
        </p:txBody>
      </p:sp>
      <p:sp>
        <p:nvSpPr>
          <p:cNvPr id="21" name="Ins1"/>
          <p:cNvSpPr/>
          <p:nvPr/>
        </p:nvSpPr>
        <p:spPr>
          <a:xfrm>
            <a:off x="4819747" y="2561418"/>
            <a:ext cx="2750000" cy="18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5400">
            <a:solidFill>
              <a:srgbClr val="3FB950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3600" dirty="0">
                <a:solidFill>
                  <a:srgbClr val="3FB950"/>
                </a:solidFill>
              </a:rPr>
              <a:t>🔌</a:t>
            </a:r>
          </a:p>
          <a:p>
            <a:pPr algn="ctr"/>
            <a:r>
              <a:rPr lang="en-US" sz="1400" b="1" dirty="0">
                <a:solidFill>
                  <a:srgbClr val="3FB950"/>
                </a:solidFill>
              </a:rPr>
              <a:t>All implement one interface</a:t>
            </a:r>
          </a:p>
          <a:p>
            <a:r>
              <a:rPr lang="en-US" sz="1100" dirty="0">
                <a:solidFill>
                  <a:srgbClr val="8B949E"/>
                </a:solidFill>
              </a:rPr>
              <a:t>OrderState interface: confirm(), ship(), deliver(), cancel()</a:t>
            </a:r>
          </a:p>
        </p:txBody>
      </p:sp>
      <p:sp>
        <p:nvSpPr>
          <p:cNvPr id="22" name="Ins2"/>
          <p:cNvSpPr/>
          <p:nvPr/>
        </p:nvSpPr>
        <p:spPr>
          <a:xfrm>
            <a:off x="7799747" y="2561418"/>
            <a:ext cx="2750000" cy="1800000"/>
          </a:xfrm>
          <a:prstGeom prst="roundRect">
            <a:avLst>
              <a:gd name="adj" fmla="val 12000"/>
            </a:avLst>
          </a:prstGeom>
          <a:solidFill>
            <a:srgbClr val="1C2128"/>
          </a:solidFill>
          <a:ln w="25400">
            <a:solidFill>
              <a:srgbClr val="D2A8FF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3600" dirty="0">
                <a:solidFill>
                  <a:srgbClr val="D2A8FF"/>
                </a:solidFill>
              </a:rPr>
              <a:t>🔄</a:t>
            </a:r>
          </a:p>
          <a:p>
            <a:pPr algn="ctr"/>
            <a:r>
              <a:rPr lang="en-US" sz="1400" b="1" dirty="0">
                <a:solidFill>
                  <a:srgbClr val="D2A8FF"/>
                </a:solidFill>
              </a:rPr>
              <a:t>Context delegates to state</a:t>
            </a:r>
          </a:p>
          <a:p>
            <a:r>
              <a:rPr lang="en-US" sz="1100" dirty="0">
                <a:solidFill>
                  <a:srgbClr val="8B949E"/>
                </a:solidFill>
              </a:rPr>
              <a:t>Order just calls currentState.cancel() — no more if/else!</a:t>
            </a:r>
          </a:p>
        </p:txBody>
      </p:sp>
      <p:sp>
        <p:nvSpPr>
          <p:cNvPr id="30" name="Evolution"/>
          <p:cNvSpPr/>
          <p:nvPr/>
        </p:nvSpPr>
        <p:spPr>
          <a:xfrm>
            <a:off x="2139747" y="4661418"/>
            <a:ext cx="81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8B949E"/>
                </a:solidFill>
              </a:rPr>
              <a:t>Giant if/else  ➔  Methods per state  ➔  </a:t>
            </a:r>
            <a:r>
              <a:rPr lang="en-US" sz="1300" b="1" dirty="0">
                <a:solidFill>
                  <a:srgbClr val="D2A8FF"/>
                </a:solidFill>
              </a:rPr>
              <a:t>State Objects (the pattern!)</a:t>
            </a:r>
          </a:p>
        </p:txBody>
      </p:sp>
      <p:sp>
        <p:nvSpPr>
          <p:cNvPr id="31" name="SRP"/>
          <p:cNvSpPr/>
          <p:nvPr/>
        </p:nvSpPr>
        <p:spPr>
          <a:xfrm>
            <a:off x="2639747" y="5161418"/>
            <a:ext cx="2100000" cy="300000"/>
          </a:xfrm>
          <a:prstGeom prst="roundRect">
            <a:avLst>
              <a:gd name="adj" fmla="val 50000"/>
            </a:avLst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200" b="1" dirty="0">
                <a:solidFill>
                  <a:srgbClr val="3FB950"/>
                </a:solidFill>
              </a:rPr>
              <a:t>✓ SRP Fixed</a:t>
            </a:r>
          </a:p>
        </p:txBody>
      </p:sp>
      <p:sp>
        <p:nvSpPr>
          <p:cNvPr id="32" name="OCP"/>
          <p:cNvSpPr/>
          <p:nvPr/>
        </p:nvSpPr>
        <p:spPr>
          <a:xfrm>
            <a:off x="5139747" y="5161418"/>
            <a:ext cx="2100000" cy="300000"/>
          </a:xfrm>
          <a:prstGeom prst="roundRect">
            <a:avLst>
              <a:gd name="adj" fmla="val 50000"/>
            </a:avLst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200" b="1" dirty="0">
                <a:solidFill>
                  <a:srgbClr val="3FB950"/>
                </a:solidFill>
              </a:rPr>
              <a:t>✓ OCP Fixed</a:t>
            </a:r>
          </a:p>
        </p:txBody>
      </p:sp>
      <p:sp>
        <p:nvSpPr>
          <p:cNvPr id="33" name="LSP"/>
          <p:cNvSpPr/>
          <p:nvPr/>
        </p:nvSpPr>
        <p:spPr>
          <a:xfrm>
            <a:off x="7639747" y="5161418"/>
            <a:ext cx="2100000" cy="300000"/>
          </a:xfrm>
          <a:prstGeom prst="roundRect">
            <a:avLst>
              <a:gd name="adj" fmla="val 50000"/>
            </a:avLst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</a:ln>
        </p:spPr>
        <p:txBody>
          <a:bodyPr lIns="60000" tIns="0" rIns="60000" bIns="0" anchor="ctr"/>
          <a:lstStyle/>
          <a:p>
            <a:pPr algn="ctr"/>
            <a:r>
              <a:rPr lang="en-US" sz="1200" b="1" dirty="0">
                <a:solidFill>
                  <a:srgbClr val="3FB950"/>
                </a:solidFill>
              </a:rPr>
              <a:t>✓ LSP Fixed</a:t>
            </a:r>
          </a:p>
        </p:txBody>
      </p:sp>
    </p:spTree>
    <p:extLst>
      <p:ext uri="{BB962C8B-B14F-4D97-AF65-F5344CB8AC3E}">
        <p14:creationId xmlns:p14="http://schemas.microsoft.com/office/powerpoint/2010/main" val="36004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687975" y="-48228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687975" y="6657772"/>
            <a:ext cx="9144000" cy="152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D2A8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887975" y="101772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The State Pattern: </a:t>
            </a:r>
            <a:r>
              <a:rPr lang="en-US" sz="2800" b="1" dirty="0">
                <a:solidFill>
                  <a:srgbClr val="58A6FF"/>
                </a:solidFill>
                <a:latin typeface="Segoe UI Semibold"/>
              </a:rPr>
              <a:t>3 Moving Parts</a:t>
            </a:r>
          </a:p>
        </p:txBody>
      </p:sp>
      <p:sp>
        <p:nvSpPr>
          <p:cNvPr id="20" name="Context"/>
          <p:cNvSpPr/>
          <p:nvPr/>
        </p:nvSpPr>
        <p:spPr>
          <a:xfrm>
            <a:off x="1887975" y="751772"/>
            <a:ext cx="2600000" cy="28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25400">
            <a:solidFill>
              <a:srgbClr val="58A6FF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1100" b="1" dirty="0">
                <a:solidFill>
                  <a:srgbClr val="58A6FF"/>
                </a:solidFill>
              </a:rPr>
              <a:t>« Context »</a:t>
            </a:r>
          </a:p>
          <a:p>
            <a:pPr algn="ctr"/>
            <a:r>
              <a:rPr lang="en-US" sz="1800" b="1" dirty="0">
                <a:solidFill>
                  <a:srgbClr val="F0F6FC"/>
                </a:solidFill>
                <a:latin typeface="Consolas"/>
              </a:rPr>
              <a:t>Order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- currentState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+ confirm()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+ ship()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+ deliver()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+ cancel()</a:t>
            </a:r>
          </a:p>
          <a:p>
            <a:r>
              <a:rPr lang="en-US" sz="1000" dirty="0">
                <a:solidFill>
                  <a:srgbClr val="FFA657"/>
                </a:solidFill>
                <a:latin typeface="Consolas"/>
              </a:rPr>
              <a:t>+ setState(s)</a:t>
            </a:r>
          </a:p>
        </p:txBody>
      </p:sp>
      <p:sp>
        <p:nvSpPr>
          <p:cNvPr id="21" name="CtxLbl"/>
          <p:cNvSpPr/>
          <p:nvPr/>
        </p:nvSpPr>
        <p:spPr>
          <a:xfrm>
            <a:off x="1887975" y="3701772"/>
            <a:ext cx="2600000" cy="700000"/>
          </a:xfrm>
          <a:prstGeom prst="rect">
            <a:avLst/>
          </a:prstGeom>
          <a:noFill/>
        </p:spPr>
        <p:txBody>
          <a:bodyPr wrap="square" lIns="0" tIns="60000" rIns="0" bIns="0"/>
          <a:lstStyle/>
          <a:p>
            <a:pPr algn="ctr"/>
            <a:r>
              <a:rPr lang="en-US" sz="1200" b="1" dirty="0">
                <a:solidFill>
                  <a:srgbClr val="58A6FF"/>
                </a:solidFill>
              </a:rPr>
              <a:t>1. CONTEXT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Holds current state, delegates behavior</a:t>
            </a:r>
          </a:p>
        </p:txBody>
      </p:sp>
      <p:sp>
        <p:nvSpPr>
          <p:cNvPr id="22" name="Interface"/>
          <p:cNvSpPr/>
          <p:nvPr/>
        </p:nvSpPr>
        <p:spPr>
          <a:xfrm>
            <a:off x="5037975" y="751772"/>
            <a:ext cx="2500000" cy="22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25400">
            <a:solidFill>
              <a:srgbClr val="D2A8FF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1100" b="1" i="1" dirty="0">
                <a:solidFill>
                  <a:srgbClr val="D2A8FF"/>
                </a:solidFill>
              </a:rPr>
              <a:t>« interface »</a:t>
            </a:r>
          </a:p>
          <a:p>
            <a:pPr algn="ctr"/>
            <a:r>
              <a:rPr lang="en-US" sz="1800" b="1" dirty="0">
                <a:solidFill>
                  <a:srgbClr val="F0F6FC"/>
                </a:solidFill>
                <a:latin typeface="Consolas"/>
              </a:rPr>
              <a:t>OrderState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+ confirm(Order)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+ ship(Order)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+ deliver(Order)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+ cancel(Order)</a:t>
            </a:r>
          </a:p>
        </p:txBody>
      </p:sp>
      <p:sp>
        <p:nvSpPr>
          <p:cNvPr id="23" name="IfcLbl"/>
          <p:cNvSpPr/>
          <p:nvPr/>
        </p:nvSpPr>
        <p:spPr>
          <a:xfrm>
            <a:off x="5037975" y="3101772"/>
            <a:ext cx="2500000" cy="700000"/>
          </a:xfrm>
          <a:prstGeom prst="rect">
            <a:avLst/>
          </a:prstGeom>
          <a:noFill/>
        </p:spPr>
        <p:txBody>
          <a:bodyPr wrap="square" lIns="0" tIns="60000" rIns="0" bIns="0"/>
          <a:lstStyle/>
          <a:p>
            <a:pPr algn="ctr"/>
            <a:r>
              <a:rPr lang="en-US" sz="1200" b="1" dirty="0">
                <a:solidFill>
                  <a:srgbClr val="D2A8FF"/>
                </a:solidFill>
              </a:rPr>
              <a:t>2. STATE INTERFACE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Contract all concrete states must fulfill</a:t>
            </a:r>
          </a:p>
        </p:txBody>
      </p:sp>
      <p:sp>
        <p:nvSpPr>
          <p:cNvPr id="30" name="CC30"/>
          <p:cNvSpPr/>
          <p:nvPr/>
        </p:nvSpPr>
        <p:spPr>
          <a:xfrm>
            <a:off x="7787975" y="751772"/>
            <a:ext cx="28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txBody>
          <a:bodyPr lIns="150000" tIns="0" rIns="150000" bIns="0" anchor="ctr"/>
          <a:lstStyle/>
          <a:p>
            <a:pPr algn="ctr"/>
            <a:r>
              <a:rPr lang="en-US" sz="1200" b="1" dirty="0">
                <a:solidFill>
                  <a:srgbClr val="58A6FF"/>
                </a:solidFill>
                <a:latin typeface="Consolas"/>
              </a:rPr>
              <a:t>PlacedState</a:t>
            </a:r>
          </a:p>
          <a:p>
            <a:pPr algn="ctr"/>
            <a:r>
              <a:rPr lang="en-US" sz="1000" dirty="0">
                <a:solidFill>
                  <a:srgbClr val="8B949E"/>
                </a:solidFill>
              </a:rPr>
              <a:t>implements OrderState</a:t>
            </a:r>
          </a:p>
        </p:txBody>
      </p:sp>
      <p:sp>
        <p:nvSpPr>
          <p:cNvPr id="31" name="CC31"/>
          <p:cNvSpPr/>
          <p:nvPr/>
        </p:nvSpPr>
        <p:spPr>
          <a:xfrm>
            <a:off x="7787975" y="1951772"/>
            <a:ext cx="28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lIns="150000" tIns="0" rIns="150000" bIns="0" anchor="ctr"/>
          <a:lstStyle/>
          <a:p>
            <a:pPr algn="ctr"/>
            <a:r>
              <a:rPr lang="en-US" sz="1200" b="1" dirty="0">
                <a:solidFill>
                  <a:srgbClr val="3FB950"/>
                </a:solidFill>
                <a:latin typeface="Consolas"/>
              </a:rPr>
              <a:t>ConfirmedState</a:t>
            </a:r>
          </a:p>
          <a:p>
            <a:pPr algn="ctr"/>
            <a:r>
              <a:rPr lang="en-US" sz="1000" dirty="0">
                <a:solidFill>
                  <a:srgbClr val="8B949E"/>
                </a:solidFill>
              </a:rPr>
              <a:t>implements OrderState</a:t>
            </a:r>
          </a:p>
        </p:txBody>
      </p:sp>
      <p:sp>
        <p:nvSpPr>
          <p:cNvPr id="32" name="CC32"/>
          <p:cNvSpPr/>
          <p:nvPr/>
        </p:nvSpPr>
        <p:spPr>
          <a:xfrm>
            <a:off x="7787975" y="3151772"/>
            <a:ext cx="28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lIns="150000" tIns="0" rIns="150000" bIns="0" anchor="ctr"/>
          <a:lstStyle/>
          <a:p>
            <a:pPr algn="ctr"/>
            <a:r>
              <a:rPr lang="en-US" sz="1200" b="1" dirty="0">
                <a:solidFill>
                  <a:srgbClr val="FFA657"/>
                </a:solidFill>
                <a:latin typeface="Consolas"/>
              </a:rPr>
              <a:t>ShippedState</a:t>
            </a:r>
          </a:p>
          <a:p>
            <a:pPr algn="ctr"/>
            <a:r>
              <a:rPr lang="en-US" sz="1000" dirty="0">
                <a:solidFill>
                  <a:srgbClr val="8B949E"/>
                </a:solidFill>
              </a:rPr>
              <a:t>implements OrderState</a:t>
            </a:r>
          </a:p>
        </p:txBody>
      </p:sp>
      <p:sp>
        <p:nvSpPr>
          <p:cNvPr id="33" name="CC33"/>
          <p:cNvSpPr/>
          <p:nvPr/>
        </p:nvSpPr>
        <p:spPr>
          <a:xfrm>
            <a:off x="7787975" y="4351772"/>
            <a:ext cx="2800000" cy="9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lIns="150000" tIns="0" rIns="150000" bIns="0" anchor="ctr"/>
          <a:lstStyle/>
          <a:p>
            <a:pPr algn="ctr"/>
            <a:r>
              <a:rPr lang="en-US" sz="1200" b="1" dirty="0">
                <a:solidFill>
                  <a:srgbClr val="F78166"/>
                </a:solidFill>
                <a:latin typeface="Consolas"/>
              </a:rPr>
              <a:t>CancelledState</a:t>
            </a:r>
          </a:p>
          <a:p>
            <a:pPr algn="ctr"/>
            <a:r>
              <a:rPr lang="en-US" sz="1000" dirty="0">
                <a:solidFill>
                  <a:srgbClr val="8B949E"/>
                </a:solidFill>
              </a:rPr>
              <a:t>implements OrderState</a:t>
            </a:r>
          </a:p>
        </p:txBody>
      </p:sp>
      <p:sp>
        <p:nvSpPr>
          <p:cNvPr id="40" name="CncLbl"/>
          <p:cNvSpPr/>
          <p:nvPr/>
        </p:nvSpPr>
        <p:spPr>
          <a:xfrm>
            <a:off x="7787975" y="5451772"/>
            <a:ext cx="2800000" cy="700000"/>
          </a:xfrm>
          <a:prstGeom prst="rect">
            <a:avLst/>
          </a:prstGeom>
          <a:noFill/>
        </p:spPr>
        <p:txBody>
          <a:bodyPr wrap="square" lIns="0" tIns="60000" rIns="0" bIns="0"/>
          <a:lstStyle/>
          <a:p>
            <a:pPr algn="ctr"/>
            <a:r>
              <a:rPr lang="en-US" sz="1200" b="1" dirty="0">
                <a:solidFill>
                  <a:srgbClr val="3FB950"/>
                </a:solidFill>
              </a:rPr>
              <a:t>3. CONCRETE STATES</a:t>
            </a:r>
          </a:p>
          <a:p>
            <a:pPr algn="ctr"/>
            <a:r>
              <a:rPr lang="en-US" sz="1100" dirty="0">
                <a:solidFill>
                  <a:srgbClr val="8B949E"/>
                </a:solidFill>
              </a:rPr>
              <a:t>Each state = isolated class with own logic</a:t>
            </a:r>
          </a:p>
        </p:txBody>
      </p:sp>
      <p:sp>
        <p:nvSpPr>
          <p:cNvPr id="50" name="Rel1"/>
          <p:cNvSpPr/>
          <p:nvPr/>
        </p:nvSpPr>
        <p:spPr>
          <a:xfrm>
            <a:off x="4587975" y="1751772"/>
            <a:ext cx="40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el2"/>
          <p:cNvSpPr/>
          <p:nvPr/>
        </p:nvSpPr>
        <p:spPr>
          <a:xfrm>
            <a:off x="4587975" y="1751772"/>
            <a:ext cx="1000000" cy="200000"/>
          </a:xfrm>
          <a:prstGeom prst="rect">
            <a:avLst/>
          </a:prstGeom>
          <a:solidFill>
            <a:srgbClr val="58A6FF">
              <a:alpha val="15000"/>
            </a:srgbClr>
          </a:solidFill>
          <a:ln w="9525">
            <a:solidFill>
              <a:srgbClr val="58A6FF">
                <a:alpha val="50000"/>
              </a:srgbClr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900" dirty="0">
                <a:solidFill>
                  <a:srgbClr val="58A6FF"/>
                </a:solidFill>
              </a:rPr>
              <a:t>delegates to</a:t>
            </a:r>
          </a:p>
        </p:txBody>
      </p:sp>
    </p:spTree>
    <p:extLst>
      <p:ext uri="{BB962C8B-B14F-4D97-AF65-F5344CB8AC3E}">
        <p14:creationId xmlns:p14="http://schemas.microsoft.com/office/powerpoint/2010/main" val="24931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929114" y="-9646"/>
            <a:ext cx="18000" cy="6858000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929114" y="6696354"/>
            <a:ext cx="9144000" cy="152000"/>
          </a:xfrm>
          <a:prstGeom prst="rect">
            <a:avLst/>
          </a:prstGeom>
          <a:gradFill>
            <a:gsLst>
              <a:gs pos="0">
                <a:srgbClr val="D2A8FF"/>
              </a:gs>
              <a:gs pos="50000">
                <a:srgbClr val="58A6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2129114" y="140354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600" b="1" dirty="0">
                <a:solidFill>
                  <a:srgbClr val="F0F6FC"/>
                </a:solidFill>
                <a:latin typeface="Segoe UI Semibold"/>
              </a:rPr>
              <a:t>Step 1 — Define the Contract: </a:t>
            </a:r>
            <a:r>
              <a:rPr lang="en-US" sz="2600" b="1" dirty="0">
                <a:solidFill>
                  <a:srgbClr val="D2A8FF"/>
                </a:solidFill>
                <a:latin typeface="Consolas"/>
              </a:rPr>
              <a:t>OrderState</a:t>
            </a:r>
          </a:p>
        </p:txBody>
      </p:sp>
      <p:sp>
        <p:nvSpPr>
          <p:cNvPr id="13" name="FileTab"/>
          <p:cNvSpPr/>
          <p:nvPr/>
        </p:nvSpPr>
        <p:spPr>
          <a:xfrm>
            <a:off x="2129114" y="720354"/>
            <a:ext cx="2000000" cy="30000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12700">
            <a:solidFill>
              <a:srgbClr val="D2A8FF"/>
            </a:solidFill>
          </a:ln>
        </p:spPr>
        <p:txBody>
          <a:bodyPr lIns="120000" tIns="0" rIns="120000" bIns="0" anchor="ctr"/>
          <a:lstStyle/>
          <a:p>
            <a:r>
              <a:rPr lang="en-US" sz="1100" dirty="0">
                <a:solidFill>
                  <a:srgbClr val="C9D1D9"/>
                </a:solidFill>
                <a:latin typeface="Consolas"/>
              </a:rPr>
              <a:t>OrderState.java</a:t>
            </a:r>
          </a:p>
        </p:txBody>
      </p:sp>
      <p:sp>
        <p:nvSpPr>
          <p:cNvPr id="14" name="InterfaceCode"/>
          <p:cNvSpPr/>
          <p:nvPr/>
        </p:nvSpPr>
        <p:spPr>
          <a:xfrm>
            <a:off x="2129114" y="1020354"/>
            <a:ext cx="4200000" cy="5400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200000" tIns="180000" rIns="150000" bIns="150000"/>
          <a:lstStyle/>
          <a:p>
            <a:r>
              <a:rPr lang="en-US" sz="1100" dirty="0">
                <a:solidFill>
                  <a:srgbClr val="D2A8FF"/>
                </a:solidFill>
                <a:latin typeface="Consolas"/>
              </a:rPr>
              <a:t>public interface </a:t>
            </a:r>
            <a:r>
              <a:rPr lang="en-US" sz="1100" dirty="0">
                <a:solidFill>
                  <a:srgbClr val="79C0FF"/>
                </a:solidFill>
                <a:latin typeface="Consolas"/>
              </a:rPr>
              <a:t>OrderState </a:t>
            </a:r>
            <a:r>
              <a:rPr lang="en-US" sz="1100" dirty="0">
                <a:solidFill>
                  <a:srgbClr val="C9D1D9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8B949E"/>
                </a:solidFill>
                <a:latin typeface="Consolas"/>
              </a:rPr>
              <a:t>  // Each method gets the Order</a:t>
            </a:r>
          </a:p>
          <a:p>
            <a:r>
              <a:rPr lang="en-US" sz="1100" dirty="0">
                <a:solidFill>
                  <a:srgbClr val="8B949E"/>
                </a:solidFill>
                <a:latin typeface="Consolas"/>
              </a:rPr>
              <a:t>  // so it can trigger transitions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 </a:t>
            </a:r>
          </a:p>
          <a:p>
            <a:r>
              <a:rPr lang="en-US" sz="1100" dirty="0">
                <a:solidFill>
                  <a:srgbClr val="D2A8FF"/>
                </a:solidFill>
                <a:latin typeface="Consolas"/>
              </a:rPr>
              <a:t>  void </a:t>
            </a:r>
            <a:r>
              <a:rPr lang="en-US" sz="1100" dirty="0">
                <a:solidFill>
                  <a:srgbClr val="79C0FF"/>
                </a:solidFill>
                <a:latin typeface="Consolas"/>
              </a:rPr>
              <a:t>confirm</a:t>
            </a:r>
            <a:r>
              <a:rPr lang="en-US" sz="1100" dirty="0">
                <a:solidFill>
                  <a:srgbClr val="C9D1D9"/>
                </a:solidFill>
                <a:latin typeface="Consolas"/>
              </a:rPr>
              <a:t>(Order order);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 </a:t>
            </a:r>
          </a:p>
          <a:p>
            <a:r>
              <a:rPr lang="en-US" sz="1100" dirty="0">
                <a:solidFill>
                  <a:srgbClr val="D2A8FF"/>
                </a:solidFill>
                <a:latin typeface="Consolas"/>
              </a:rPr>
              <a:t>  void </a:t>
            </a:r>
            <a:r>
              <a:rPr lang="en-US" sz="1100" dirty="0">
                <a:solidFill>
                  <a:srgbClr val="79C0FF"/>
                </a:solidFill>
                <a:latin typeface="Consolas"/>
              </a:rPr>
              <a:t>ship</a:t>
            </a:r>
            <a:r>
              <a:rPr lang="en-US" sz="1100" dirty="0">
                <a:solidFill>
                  <a:srgbClr val="C9D1D9"/>
                </a:solidFill>
                <a:latin typeface="Consolas"/>
              </a:rPr>
              <a:t>(Order order);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 </a:t>
            </a:r>
          </a:p>
          <a:p>
            <a:r>
              <a:rPr lang="en-US" sz="1100" dirty="0">
                <a:solidFill>
                  <a:srgbClr val="D2A8FF"/>
                </a:solidFill>
                <a:latin typeface="Consolas"/>
              </a:rPr>
              <a:t>  void </a:t>
            </a:r>
            <a:r>
              <a:rPr lang="en-US" sz="1100" dirty="0">
                <a:solidFill>
                  <a:srgbClr val="79C0FF"/>
                </a:solidFill>
                <a:latin typeface="Consolas"/>
              </a:rPr>
              <a:t>deliver</a:t>
            </a:r>
            <a:r>
              <a:rPr lang="en-US" sz="1100" dirty="0">
                <a:solidFill>
                  <a:srgbClr val="C9D1D9"/>
                </a:solidFill>
                <a:latin typeface="Consolas"/>
              </a:rPr>
              <a:t>(Order order);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 </a:t>
            </a:r>
          </a:p>
          <a:p>
            <a:r>
              <a:rPr lang="en-US" sz="1100" dirty="0">
                <a:solidFill>
                  <a:srgbClr val="D2A8FF"/>
                </a:solidFill>
                <a:latin typeface="Consolas"/>
              </a:rPr>
              <a:t>  void </a:t>
            </a:r>
            <a:r>
              <a:rPr lang="en-US" sz="1100" dirty="0">
                <a:solidFill>
                  <a:srgbClr val="79C0FF"/>
                </a:solidFill>
                <a:latin typeface="Consolas"/>
              </a:rPr>
              <a:t>cancel</a:t>
            </a:r>
            <a:r>
              <a:rPr lang="en-US" sz="1100" dirty="0">
                <a:solidFill>
                  <a:srgbClr val="C9D1D9"/>
                </a:solidFill>
                <a:latin typeface="Consolas"/>
              </a:rPr>
              <a:t>(Order order);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 </a:t>
            </a:r>
          </a:p>
          <a:p>
            <a:r>
              <a:rPr lang="en-US" sz="11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20" name="Note0"/>
          <p:cNvSpPr/>
          <p:nvPr/>
        </p:nvSpPr>
        <p:spPr>
          <a:xfrm>
            <a:off x="6529114" y="720354"/>
            <a:ext cx="4300000" cy="128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D2A8FF"/>
                </a:solidFill>
              </a:rPr>
              <a:t>📋  Interface Segregation (ISP)</a:t>
            </a:r>
          </a:p>
          <a:p>
            <a:r>
              <a:rPr lang="en-US" sz="1100" dirty="0">
                <a:solidFill>
                  <a:srgbClr val="C9D1D9"/>
                </a:solidFill>
              </a:rPr>
              <a:t>Every concrete state MUST implement all 4 methods. No orphan logic hidden in the parent.</a:t>
            </a:r>
          </a:p>
        </p:txBody>
      </p:sp>
      <p:sp>
        <p:nvSpPr>
          <p:cNvPr id="21" name="Note1"/>
          <p:cNvSpPr/>
          <p:nvPr/>
        </p:nvSpPr>
        <p:spPr>
          <a:xfrm>
            <a:off x="6529114" y="2150354"/>
            <a:ext cx="4300000" cy="128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58A6FF"/>
                </a:solidFill>
              </a:rPr>
              <a:t>🔌  Dependency Inversion (DIP)</a:t>
            </a:r>
          </a:p>
          <a:p>
            <a:r>
              <a:rPr lang="en-US" sz="1100" dirty="0">
                <a:solidFill>
                  <a:srgbClr val="C9D1D9"/>
                </a:solidFill>
              </a:rPr>
              <a:t>Order depends on OrderState abstraction, not PlacedState or ShippedState concretions.</a:t>
            </a:r>
          </a:p>
        </p:txBody>
      </p:sp>
      <p:sp>
        <p:nvSpPr>
          <p:cNvPr id="22" name="Note2"/>
          <p:cNvSpPr/>
          <p:nvPr/>
        </p:nvSpPr>
        <p:spPr>
          <a:xfrm>
            <a:off x="6529114" y="3580354"/>
            <a:ext cx="4300000" cy="128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3FB950"/>
                </a:solidFill>
              </a:rPr>
              <a:t>🔒  Open for Extension</a:t>
            </a:r>
          </a:p>
          <a:p>
            <a:r>
              <a:rPr lang="en-US" sz="1100" dirty="0">
                <a:solidFill>
                  <a:srgbClr val="C9D1D9"/>
                </a:solidFill>
              </a:rPr>
              <a:t>Add RETURN_REQUESTED? Create ReturnRequestedState.java — zero changes to existing classes.</a:t>
            </a:r>
          </a:p>
        </p:txBody>
      </p:sp>
      <p:sp>
        <p:nvSpPr>
          <p:cNvPr id="23" name="Note3"/>
          <p:cNvSpPr/>
          <p:nvPr/>
        </p:nvSpPr>
        <p:spPr>
          <a:xfrm>
            <a:off x="6529114" y="5010354"/>
            <a:ext cx="4300000" cy="128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FFA657"/>
                </a:solidFill>
              </a:rPr>
              <a:t>💡  Why pass Order to each method?</a:t>
            </a:r>
          </a:p>
          <a:p>
            <a:r>
              <a:rPr lang="en-US" sz="1100" dirty="0">
                <a:solidFill>
                  <a:srgbClr val="C9D1D9"/>
                </a:solidFill>
              </a:rPr>
              <a:t>State objects need to trigger transitions: order.setState(new ShippedState()). Clean!</a:t>
            </a:r>
          </a:p>
        </p:txBody>
      </p:sp>
    </p:spTree>
    <p:extLst>
      <p:ext uri="{BB962C8B-B14F-4D97-AF65-F5344CB8AC3E}">
        <p14:creationId xmlns:p14="http://schemas.microsoft.com/office/powerpoint/2010/main" val="2639297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572228" y="-28937"/>
            <a:ext cx="18000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572228" y="6677063"/>
            <a:ext cx="9144000" cy="152000"/>
          </a:xfrm>
          <a:prstGeom prst="rect">
            <a:avLst/>
          </a:prstGeom>
          <a:gradFill>
            <a:gsLst>
              <a:gs pos="0">
                <a:srgbClr val="3FB950"/>
              </a:gs>
              <a:gs pos="50000">
                <a:srgbClr val="58A6FF"/>
              </a:gs>
              <a:gs pos="100000">
                <a:srgbClr val="D2A8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772228" y="121063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600" b="1" dirty="0">
                <a:solidFill>
                  <a:srgbClr val="F0F6FC"/>
                </a:solidFill>
                <a:latin typeface="Segoe UI Semibold"/>
              </a:rPr>
              <a:t>Step 2 — Implement the States: </a:t>
            </a:r>
            <a:r>
              <a:rPr lang="en-US" sz="2600" b="1" dirty="0">
                <a:solidFill>
                  <a:srgbClr val="3FB950"/>
                </a:solidFill>
                <a:latin typeface="Consolas"/>
              </a:rPr>
              <a:t>PlacedState</a:t>
            </a:r>
          </a:p>
        </p:txBody>
      </p:sp>
      <p:sp>
        <p:nvSpPr>
          <p:cNvPr id="13" name="PlacedCode"/>
          <p:cNvSpPr/>
          <p:nvPr/>
        </p:nvSpPr>
        <p:spPr>
          <a:xfrm>
            <a:off x="1772228" y="701063"/>
            <a:ext cx="4200000" cy="5700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200000" tIns="180000" rIns="150000" bIns="150000"/>
          <a:lstStyle/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// PlacedState.java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public class </a:t>
            </a:r>
            <a:r>
              <a:rPr lang="en-US" sz="1000" dirty="0">
                <a:solidFill>
                  <a:srgbClr val="3FB950"/>
                </a:solidFill>
                <a:latin typeface="Consolas"/>
              </a:rPr>
              <a:t>PlacedState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 implements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OrderState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 {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@Override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confirm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(Order o) {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verifyPayment();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o.setState(</a:t>
            </a:r>
            <a:r>
              <a:rPr lang="en-US" sz="1000" dirty="0">
                <a:solidFill>
                  <a:srgbClr val="FFA657"/>
                </a:solidFill>
                <a:latin typeface="Consolas"/>
              </a:rPr>
              <a:t>new ConfirmedState()</a:t>
            </a:r>
            <a:r>
              <a:rPr lang="en-US" sz="1000" dirty="0">
                <a:solidFill>
                  <a:srgbClr val="3FB950"/>
                </a:solidFill>
                <a:latin typeface="Consolas"/>
              </a:rPr>
              <a:t>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@Override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cancel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(Order o) {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refundPayment();</a:t>
            </a:r>
          </a:p>
          <a:p>
            <a:r>
              <a:rPr lang="en-US" sz="1000" dirty="0">
                <a:solidFill>
                  <a:srgbClr val="3FB950"/>
                </a:solidFill>
                <a:latin typeface="Consolas"/>
              </a:rPr>
              <a:t>    o.setState(</a:t>
            </a:r>
            <a:r>
              <a:rPr lang="en-US" sz="1000" dirty="0">
                <a:solidFill>
                  <a:srgbClr val="FFA657"/>
                </a:solidFill>
                <a:latin typeface="Consolas"/>
              </a:rPr>
              <a:t>new CancelledState()</a:t>
            </a:r>
            <a:r>
              <a:rPr lang="en-US" sz="1000" dirty="0">
                <a:solidFill>
                  <a:srgbClr val="3FB950"/>
                </a:solidFill>
                <a:latin typeface="Consolas"/>
              </a:rPr>
              <a:t>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@Override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ship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(Order o) {</a:t>
            </a:r>
          </a:p>
          <a:p>
            <a:r>
              <a:rPr lang="en-US" sz="1000" dirty="0">
                <a:solidFill>
                  <a:srgbClr val="F78166"/>
                </a:solidFill>
                <a:latin typeface="Consolas"/>
              </a:rPr>
              <a:t>    throw new IllegalStateException(</a:t>
            </a:r>
          </a:p>
          <a:p>
            <a:r>
              <a:rPr lang="en-US" sz="1000" dirty="0">
                <a:solidFill>
                  <a:srgbClr val="F78166"/>
                </a:solidFill>
                <a:latin typeface="Consolas"/>
              </a:rPr>
              <a:t>      "Cannot ship unconfirmed order!");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  // deliver() - same pattern...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20" name="CO20"/>
          <p:cNvSpPr/>
          <p:nvPr/>
        </p:nvSpPr>
        <p:spPr>
          <a:xfrm>
            <a:off x="6172228" y="701063"/>
            <a:ext cx="4300000" cy="133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3FB950"/>
                </a:solidFill>
              </a:rPr>
              <a:t>✅  SRP: One Reason to Change</a:t>
            </a:r>
          </a:p>
          <a:p>
            <a:r>
              <a:rPr lang="en-US" sz="1100" dirty="0">
                <a:solidFill>
                  <a:srgbClr val="C9D1D9"/>
                </a:solidFill>
              </a:rPr>
              <a:t>PlacedState only changes when PLACED state behavior changes. Nothing else touches it.</a:t>
            </a:r>
          </a:p>
        </p:txBody>
      </p:sp>
      <p:sp>
        <p:nvSpPr>
          <p:cNvPr id="21" name="CO21"/>
          <p:cNvSpPr/>
          <p:nvPr/>
        </p:nvSpPr>
        <p:spPr>
          <a:xfrm>
            <a:off x="6172228" y="2201063"/>
            <a:ext cx="4300000" cy="133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FFA657"/>
                </a:solidFill>
              </a:rPr>
              <a:t>🔄  Self-Managed Transitions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state.confirm(order) calls order.setState(new ConfirmedState()) — the state decides where to go next.</a:t>
            </a:r>
          </a:p>
        </p:txBody>
      </p:sp>
      <p:sp>
        <p:nvSpPr>
          <p:cNvPr id="22" name="CO22"/>
          <p:cNvSpPr/>
          <p:nvPr/>
        </p:nvSpPr>
        <p:spPr>
          <a:xfrm>
            <a:off x="6172228" y="3701063"/>
            <a:ext cx="4300000" cy="133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F78166"/>
                </a:solidFill>
              </a:rPr>
              <a:t>🛡️  Illegal Transitions are Safe</a:t>
            </a:r>
          </a:p>
          <a:p>
            <a:r>
              <a:rPr lang="en-US" sz="1100" dirty="0">
                <a:solidFill>
                  <a:srgbClr val="C9D1D9"/>
                </a:solidFill>
              </a:rPr>
              <a:t>ship() on PlacedState throws immediately. No silent failure. Clean, explicit error contract.</a:t>
            </a:r>
          </a:p>
        </p:txBody>
      </p:sp>
      <p:sp>
        <p:nvSpPr>
          <p:cNvPr id="23" name="CO23"/>
          <p:cNvSpPr/>
          <p:nvPr/>
        </p:nvSpPr>
        <p:spPr>
          <a:xfrm>
            <a:off x="6172228" y="5201063"/>
            <a:ext cx="4300000" cy="133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50000" tIns="100000" rIns="150000" bIns="100000"/>
          <a:lstStyle/>
          <a:p>
            <a:r>
              <a:rPr lang="en-US" sz="1300" b="1" dirty="0">
                <a:solidFill>
                  <a:srgbClr val="D2A8FF"/>
                </a:solidFill>
              </a:rPr>
              <a:t>🧪  Fully Testable in Isolation</a:t>
            </a:r>
          </a:p>
          <a:p>
            <a:r>
              <a:rPr lang="en-US" sz="1100" dirty="0">
                <a:solidFill>
                  <a:srgbClr val="C9D1D9"/>
                </a:solidFill>
              </a:rPr>
              <a:t>new PlacedState().cancel(mockOrder) — test this one class, no 200-line method in the way.</a:t>
            </a:r>
          </a:p>
        </p:txBody>
      </p:sp>
    </p:spTree>
    <p:extLst>
      <p:ext uri="{BB962C8B-B14F-4D97-AF65-F5344CB8AC3E}">
        <p14:creationId xmlns:p14="http://schemas.microsoft.com/office/powerpoint/2010/main" val="234106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716912" y="0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716912" y="6706000"/>
            <a:ext cx="9144000" cy="152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3FB950"/>
              </a:gs>
              <a:gs pos="100000">
                <a:srgbClr val="D2A8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916912" y="150000"/>
            <a:ext cx="8700000" cy="48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600" b="1" dirty="0">
                <a:solidFill>
                  <a:srgbClr val="F0F6FC"/>
                </a:solidFill>
                <a:latin typeface="Segoe UI Semibold"/>
              </a:rPr>
              <a:t>Step 3 — Wire It Up: </a:t>
            </a:r>
            <a:r>
              <a:rPr lang="en-US" sz="2600" b="1" dirty="0">
                <a:solidFill>
                  <a:srgbClr val="58A6FF"/>
                </a:solidFill>
                <a:latin typeface="Consolas"/>
              </a:rPr>
              <a:t>Order.java</a:t>
            </a:r>
            <a:r>
              <a:rPr lang="en-US" sz="2600" b="1" dirty="0">
                <a:solidFill>
                  <a:srgbClr val="8B949E"/>
                </a:solidFill>
                <a:latin typeface="Segoe UI Semibold"/>
              </a:rPr>
              <a:t> (Context)</a:t>
            </a:r>
          </a:p>
        </p:txBody>
      </p:sp>
      <p:sp>
        <p:nvSpPr>
          <p:cNvPr id="13" name="OrderCode"/>
          <p:cNvSpPr/>
          <p:nvPr/>
        </p:nvSpPr>
        <p:spPr>
          <a:xfrm>
            <a:off x="1916912" y="730000"/>
            <a:ext cx="4200000" cy="4500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200000" tIns="180000" rIns="150000" bIns="150000"/>
          <a:lstStyle/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// Order.java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public class </a:t>
            </a:r>
            <a:r>
              <a:rPr lang="en-US" sz="1000" dirty="0">
                <a:solidFill>
                  <a:srgbClr val="58A6FF"/>
                </a:solidFill>
                <a:latin typeface="Consolas"/>
              </a:rPr>
              <a:t>Order 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{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private OrderState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 state;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</a:t>
            </a:r>
            <a:r>
              <a:rPr lang="en-US" sz="1000" dirty="0">
                <a:solidFill>
                  <a:srgbClr val="58A6FF"/>
                </a:solidFill>
                <a:latin typeface="Consolas"/>
              </a:rPr>
              <a:t>Order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 {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  state =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new </a:t>
            </a:r>
            <a:r>
              <a:rPr lang="en-US" sz="1000" dirty="0">
                <a:solidFill>
                  <a:srgbClr val="3FB950"/>
                </a:solidFill>
                <a:latin typeface="Consolas"/>
              </a:rPr>
              <a:t>PlacedState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  // DELEGATE — no if/else here!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confirm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 {</a:t>
            </a:r>
          </a:p>
          <a:p>
            <a:r>
              <a:rPr lang="en-US" sz="1000" dirty="0">
                <a:solidFill>
                  <a:srgbClr val="FFA657"/>
                </a:solidFill>
                <a:latin typeface="Consolas"/>
              </a:rPr>
              <a:t>    state.confirm(this);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79C0FF"/>
                </a:solidFill>
                <a:latin typeface="Consolas"/>
              </a:rPr>
              <a:t>cancel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 {</a:t>
            </a:r>
          </a:p>
          <a:p>
            <a:r>
              <a:rPr lang="en-US" sz="1000" dirty="0">
                <a:solidFill>
                  <a:srgbClr val="FFA657"/>
                </a:solidFill>
                <a:latin typeface="Consolas"/>
              </a:rPr>
              <a:t>    state.cancel(this);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  // ship(), deliver() same pattern</a:t>
            </a:r>
          </a:p>
          <a:p>
            <a:r>
              <a:rPr lang="en-US" sz="900" dirty="0">
                <a:solidFill>
                  <a:srgbClr val="30363D"/>
                </a:solidFill>
                <a:latin typeface="Consolas"/>
              </a:rPr>
              <a:t> 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  public void </a:t>
            </a:r>
            <a:r>
              <a:rPr lang="en-US" sz="1000" dirty="0">
                <a:solidFill>
                  <a:srgbClr val="FFA657"/>
                </a:solidFill>
                <a:latin typeface="Consolas"/>
              </a:rPr>
              <a:t>setState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OrderState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 s) {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  this.state = s;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  }</a:t>
            </a:r>
          </a:p>
          <a:p>
            <a:r>
              <a:rPr lang="en-US" sz="10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  <p:sp>
        <p:nvSpPr>
          <p:cNvPr id="14" name="UsageCode"/>
          <p:cNvSpPr/>
          <p:nvPr/>
        </p:nvSpPr>
        <p:spPr>
          <a:xfrm>
            <a:off x="1916912" y="5430000"/>
            <a:ext cx="4200000" cy="1000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3FB950"/>
            </a:solidFill>
          </a:ln>
        </p:spPr>
        <p:txBody>
          <a:bodyPr wrap="square" lIns="200000" tIns="120000" rIns="150000" bIns="100000"/>
          <a:lstStyle/>
          <a:p>
            <a:r>
              <a:rPr lang="en-US" sz="1000" dirty="0">
                <a:solidFill>
                  <a:srgbClr val="8B949E"/>
                </a:solidFill>
                <a:latin typeface="Consolas"/>
              </a:rPr>
              <a:t>// Client usage - clean!</a:t>
            </a:r>
          </a:p>
          <a:p>
            <a:r>
              <a:rPr lang="en-US" sz="1000" dirty="0">
                <a:solidFill>
                  <a:srgbClr val="D2A8FF"/>
                </a:solidFill>
                <a:latin typeface="Consolas"/>
              </a:rPr>
              <a:t>Order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 order = </a:t>
            </a:r>
            <a:r>
              <a:rPr lang="en-US" sz="1000" dirty="0">
                <a:solidFill>
                  <a:srgbClr val="D2A8FF"/>
                </a:solidFill>
                <a:latin typeface="Consolas"/>
              </a:rPr>
              <a:t>new </a:t>
            </a:r>
            <a:r>
              <a:rPr lang="en-US" sz="1000" dirty="0">
                <a:solidFill>
                  <a:srgbClr val="58A6FF"/>
                </a:solidFill>
                <a:latin typeface="Consolas"/>
              </a:rPr>
              <a:t>Order</a:t>
            </a:r>
            <a:r>
              <a:rPr lang="en-US" sz="1000" dirty="0">
                <a:solidFill>
                  <a:srgbClr val="C9D1D9"/>
                </a:solidFill>
                <a:latin typeface="Consolas"/>
              </a:rPr>
              <a:t>();  </a:t>
            </a:r>
            <a:r>
              <a:rPr lang="en-US" sz="1000" dirty="0">
                <a:solidFill>
                  <a:srgbClr val="8B949E"/>
                </a:solidFill>
                <a:latin typeface="Consolas"/>
              </a:rPr>
              <a:t>// starts as PlacedState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order.confirm();</a:t>
            </a:r>
            <a:r>
              <a:rPr lang="en-US" sz="1000" dirty="0">
                <a:solidFill>
                  <a:srgbClr val="8B949E"/>
                </a:solidFill>
                <a:latin typeface="Consolas"/>
              </a:rPr>
              <a:t>  // ConfirmedState now</a:t>
            </a:r>
          </a:p>
          <a:p>
            <a:r>
              <a:rPr lang="en-US" sz="1000" dirty="0">
                <a:solidFill>
                  <a:srgbClr val="79C0FF"/>
                </a:solidFill>
                <a:latin typeface="Consolas"/>
              </a:rPr>
              <a:t>order.cancel();</a:t>
            </a:r>
            <a:r>
              <a:rPr lang="en-US" sz="1000" dirty="0">
                <a:solidFill>
                  <a:srgbClr val="F78166"/>
                </a:solidFill>
                <a:latin typeface="Consolas"/>
              </a:rPr>
              <a:t>   // IllegalStateException!</a:t>
            </a:r>
          </a:p>
        </p:txBody>
      </p:sp>
      <p:sp>
        <p:nvSpPr>
          <p:cNvPr id="20" name="P20"/>
          <p:cNvSpPr/>
          <p:nvPr/>
        </p:nvSpPr>
        <p:spPr>
          <a:xfrm>
            <a:off x="6316912" y="730000"/>
            <a:ext cx="4300000" cy="15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50000" tIns="120000" rIns="150000" bIns="100000"/>
          <a:lstStyle/>
          <a:p>
            <a:r>
              <a:rPr lang="en-US" sz="1400" b="1" dirty="0">
                <a:solidFill>
                  <a:srgbClr val="FFA657"/>
                </a:solidFill>
              </a:rPr>
              <a:t>🚫  Zero if/else in Order</a:t>
            </a:r>
          </a:p>
          <a:p>
            <a:r>
              <a:rPr lang="en-US" sz="1200" dirty="0">
                <a:solidFill>
                  <a:srgbClr val="C9D1D9"/>
                </a:solidFill>
              </a:rPr>
              <a:t>Order.confirm() is ONE line: state.confirm(this). The Order class doesn't know which state it's in!</a:t>
            </a:r>
          </a:p>
        </p:txBody>
      </p:sp>
      <p:sp>
        <p:nvSpPr>
          <p:cNvPr id="21" name="P21"/>
          <p:cNvSpPr/>
          <p:nvPr/>
        </p:nvSpPr>
        <p:spPr>
          <a:xfrm>
            <a:off x="6316912" y="2430000"/>
            <a:ext cx="4300000" cy="15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txBody>
          <a:bodyPr wrap="square" lIns="150000" tIns="120000" rIns="150000" bIns="100000"/>
          <a:lstStyle/>
          <a:p>
            <a:r>
              <a:rPr lang="en-US" sz="1400" b="1" dirty="0">
                <a:solidFill>
                  <a:srgbClr val="58A6FF"/>
                </a:solidFill>
              </a:rPr>
              <a:t>🔑  setState() is the Key</a:t>
            </a:r>
          </a:p>
          <a:p>
            <a:r>
              <a:rPr lang="en-US" sz="1200" dirty="0">
                <a:solidFill>
                  <a:srgbClr val="C9D1D9"/>
                </a:solidFill>
              </a:rPr>
              <a:t>This is how transitions work. A state object calls order.setState(new NextState()) from inside itself.</a:t>
            </a:r>
          </a:p>
        </p:txBody>
      </p:sp>
      <p:sp>
        <p:nvSpPr>
          <p:cNvPr id="22" name="P22"/>
          <p:cNvSpPr/>
          <p:nvPr/>
        </p:nvSpPr>
        <p:spPr>
          <a:xfrm>
            <a:off x="6316912" y="4130000"/>
            <a:ext cx="4300000" cy="15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wrap="square" lIns="150000" tIns="120000" rIns="150000" bIns="100000"/>
          <a:lstStyle/>
          <a:p>
            <a:r>
              <a:rPr lang="en-US" sz="1400" b="1" dirty="0">
                <a:solidFill>
                  <a:srgbClr val="3FB950"/>
                </a:solidFill>
              </a:rPr>
              <a:t>📦  Initial State in Constructor</a:t>
            </a:r>
          </a:p>
          <a:p>
            <a:r>
              <a:rPr lang="en-US" sz="1200" dirty="0">
                <a:solidFill>
                  <a:srgbClr val="C9D1D9"/>
                </a:solidFill>
              </a:rPr>
              <a:t>new Order() starts as PlacedState. The initial state is explicit, not an empty string or null.</a:t>
            </a:r>
          </a:p>
        </p:txBody>
      </p:sp>
    </p:spTree>
    <p:extLst>
      <p:ext uri="{BB962C8B-B14F-4D97-AF65-F5344CB8AC3E}">
        <p14:creationId xmlns:p14="http://schemas.microsoft.com/office/powerpoint/2010/main" val="363579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2093088" y="-38582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2093088" y="6667418"/>
            <a:ext cx="9144000" cy="152000"/>
          </a:xfrm>
          <a:prstGeom prst="rect">
            <a:avLst/>
          </a:prstGeom>
          <a:gradFill>
            <a:gsLst>
              <a:gs pos="0">
                <a:srgbClr val="F78166"/>
              </a:gs>
              <a:gs pos="50000">
                <a:srgbClr val="58A6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2293088" y="111418"/>
            <a:ext cx="87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Before vs After: </a:t>
            </a:r>
            <a:r>
              <a:rPr lang="en-US" sz="2800" b="1" dirty="0">
                <a:solidFill>
                  <a:srgbClr val="F78166"/>
                </a:solidFill>
                <a:latin typeface="Segoe UI Semibold"/>
              </a:rPr>
              <a:t>Chaos </a:t>
            </a:r>
            <a:r>
              <a:rPr lang="en-US" sz="2800" b="1" dirty="0">
                <a:solidFill>
                  <a:srgbClr val="8B949E"/>
                </a:solidFill>
                <a:latin typeface="Segoe UI Semibold"/>
              </a:rPr>
              <a:t>→ </a:t>
            </a:r>
            <a:r>
              <a:rPr lang="en-US" sz="2800" b="1" dirty="0">
                <a:solidFill>
                  <a:srgbClr val="3FB950"/>
                </a:solidFill>
                <a:latin typeface="Segoe UI Semibold"/>
              </a:rPr>
              <a:t>Clarity</a:t>
            </a:r>
          </a:p>
        </p:txBody>
      </p:sp>
      <p:sp>
        <p:nvSpPr>
          <p:cNvPr id="13" name="BefHdr"/>
          <p:cNvSpPr/>
          <p:nvPr/>
        </p:nvSpPr>
        <p:spPr>
          <a:xfrm>
            <a:off x="2293088" y="641418"/>
            <a:ext cx="4200000" cy="400000"/>
          </a:xfrm>
          <a:prstGeom prst="roundRect">
            <a:avLst>
              <a:gd name="adj" fmla="val 12000"/>
            </a:avLst>
          </a:prstGeom>
          <a:solidFill>
            <a:srgbClr val="F78166">
              <a:alpha val="20000"/>
            </a:srgbClr>
          </a:solidFill>
          <a:ln w="19050">
            <a:solidFill>
              <a:srgbClr val="F78166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F78166"/>
                </a:solidFill>
              </a:rPr>
              <a:t>😵  BEFORE</a:t>
            </a:r>
          </a:p>
        </p:txBody>
      </p:sp>
      <p:sp>
        <p:nvSpPr>
          <p:cNvPr id="14" name="AftHdr"/>
          <p:cNvSpPr/>
          <p:nvPr/>
        </p:nvSpPr>
        <p:spPr>
          <a:xfrm>
            <a:off x="6793088" y="641418"/>
            <a:ext cx="4200000" cy="400000"/>
          </a:xfrm>
          <a:prstGeom prst="roundRect">
            <a:avLst>
              <a:gd name="adj" fmla="val 12000"/>
            </a:avLst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2000" b="1" dirty="0">
                <a:solidFill>
                  <a:srgbClr val="3FB950"/>
                </a:solidFill>
              </a:rPr>
              <a:t>🥳  AFTER</a:t>
            </a:r>
          </a:p>
        </p:txBody>
      </p:sp>
      <p:sp>
        <p:nvSpPr>
          <p:cNvPr id="20" name="Met0"/>
          <p:cNvSpPr/>
          <p:nvPr/>
        </p:nvSpPr>
        <p:spPr>
          <a:xfrm>
            <a:off x="2293088" y="11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Code structure</a:t>
            </a:r>
          </a:p>
          <a:p>
            <a:r>
              <a:rPr lang="en-US" sz="1100" dirty="0">
                <a:solidFill>
                  <a:srgbClr val="F78166"/>
                </a:solidFill>
              </a:rPr>
              <a:t>1 class, 4 methods × N states if/else</a:t>
            </a:r>
          </a:p>
        </p:txBody>
      </p:sp>
      <p:sp>
        <p:nvSpPr>
          <p:cNvPr id="21" name="Aft0"/>
          <p:cNvSpPr/>
          <p:nvPr/>
        </p:nvSpPr>
        <p:spPr>
          <a:xfrm>
            <a:off x="6793088" y="11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1 class + N state classes</a:t>
            </a:r>
          </a:p>
        </p:txBody>
      </p:sp>
      <p:sp>
        <p:nvSpPr>
          <p:cNvPr id="22" name="Div0"/>
          <p:cNvSpPr/>
          <p:nvPr/>
        </p:nvSpPr>
        <p:spPr>
          <a:xfrm>
            <a:off x="6573088" y="11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Met1"/>
          <p:cNvSpPr/>
          <p:nvPr/>
        </p:nvSpPr>
        <p:spPr>
          <a:xfrm>
            <a:off x="2293088" y="20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Add new state</a:t>
            </a:r>
          </a:p>
          <a:p>
            <a:r>
              <a:rPr lang="en-US" sz="1100" dirty="0">
                <a:solidFill>
                  <a:srgbClr val="F78166"/>
                </a:solidFill>
              </a:rPr>
              <a:t>Edit every method, retest all</a:t>
            </a:r>
          </a:p>
        </p:txBody>
      </p:sp>
      <p:sp>
        <p:nvSpPr>
          <p:cNvPr id="24" name="Aft1"/>
          <p:cNvSpPr/>
          <p:nvPr/>
        </p:nvSpPr>
        <p:spPr>
          <a:xfrm>
            <a:off x="6793088" y="20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Add 1 new class, zero changes</a:t>
            </a:r>
          </a:p>
        </p:txBody>
      </p:sp>
      <p:sp>
        <p:nvSpPr>
          <p:cNvPr id="25" name="Div1"/>
          <p:cNvSpPr/>
          <p:nvPr/>
        </p:nvSpPr>
        <p:spPr>
          <a:xfrm>
            <a:off x="6573088" y="20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Met2"/>
          <p:cNvSpPr/>
          <p:nvPr/>
        </p:nvSpPr>
        <p:spPr>
          <a:xfrm>
            <a:off x="2293088" y="29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Test one state</a:t>
            </a:r>
          </a:p>
          <a:p>
            <a:r>
              <a:rPr lang="en-US" sz="1100" dirty="0">
                <a:solidFill>
                  <a:srgbClr val="F78166"/>
                </a:solidFill>
              </a:rPr>
              <a:t>Instantiate the whole service</a:t>
            </a:r>
          </a:p>
        </p:txBody>
      </p:sp>
      <p:sp>
        <p:nvSpPr>
          <p:cNvPr id="27" name="Aft2"/>
          <p:cNvSpPr/>
          <p:nvPr/>
        </p:nvSpPr>
        <p:spPr>
          <a:xfrm>
            <a:off x="6793088" y="29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new PlacedState().cancel(mock)</a:t>
            </a:r>
          </a:p>
        </p:txBody>
      </p:sp>
      <p:sp>
        <p:nvSpPr>
          <p:cNvPr id="28" name="Div2"/>
          <p:cNvSpPr/>
          <p:nvPr/>
        </p:nvSpPr>
        <p:spPr>
          <a:xfrm>
            <a:off x="6573088" y="29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Met3"/>
          <p:cNvSpPr/>
          <p:nvPr/>
        </p:nvSpPr>
        <p:spPr>
          <a:xfrm>
            <a:off x="2293088" y="38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Fix a bug</a:t>
            </a:r>
          </a:p>
          <a:p>
            <a:r>
              <a:rPr lang="en-US" sz="1100" dirty="0">
                <a:solidFill>
                  <a:srgbClr val="F78166"/>
                </a:solidFill>
              </a:rPr>
              <a:t>Hunt through 200 lines</a:t>
            </a:r>
          </a:p>
        </p:txBody>
      </p:sp>
      <p:sp>
        <p:nvSpPr>
          <p:cNvPr id="30" name="Aft3"/>
          <p:cNvSpPr/>
          <p:nvPr/>
        </p:nvSpPr>
        <p:spPr>
          <a:xfrm>
            <a:off x="6793088" y="38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Go straight to the state class</a:t>
            </a:r>
          </a:p>
        </p:txBody>
      </p:sp>
      <p:sp>
        <p:nvSpPr>
          <p:cNvPr id="31" name="Div3"/>
          <p:cNvSpPr/>
          <p:nvPr/>
        </p:nvSpPr>
        <p:spPr>
          <a:xfrm>
            <a:off x="6573088" y="38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Met4"/>
          <p:cNvSpPr/>
          <p:nvPr/>
        </p:nvSpPr>
        <p:spPr>
          <a:xfrm>
            <a:off x="2293088" y="47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Code review</a:t>
            </a:r>
          </a:p>
          <a:p>
            <a:r>
              <a:rPr lang="en-US" sz="1100" dirty="0">
                <a:solidFill>
                  <a:srgbClr val="F78166"/>
                </a:solidFill>
              </a:rPr>
              <a:t>Reviewer must understand ALL states</a:t>
            </a:r>
          </a:p>
        </p:txBody>
      </p:sp>
      <p:sp>
        <p:nvSpPr>
          <p:cNvPr id="33" name="Aft4"/>
          <p:cNvSpPr/>
          <p:nvPr/>
        </p:nvSpPr>
        <p:spPr>
          <a:xfrm>
            <a:off x="6793088" y="4761418"/>
            <a:ext cx="4200000" cy="820000"/>
          </a:xfrm>
          <a:prstGeom prst="rect">
            <a:avLst/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Review one isolated state class</a:t>
            </a:r>
          </a:p>
        </p:txBody>
      </p:sp>
      <p:sp>
        <p:nvSpPr>
          <p:cNvPr id="34" name="Div4"/>
          <p:cNvSpPr/>
          <p:nvPr/>
        </p:nvSpPr>
        <p:spPr>
          <a:xfrm>
            <a:off x="6573088" y="47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Met5"/>
          <p:cNvSpPr/>
          <p:nvPr/>
        </p:nvSpPr>
        <p:spPr>
          <a:xfrm>
            <a:off x="2293088" y="56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300" b="1" dirty="0">
                <a:solidFill>
                  <a:srgbClr val="C9D1D9"/>
                </a:solidFill>
              </a:rPr>
              <a:t>OCP compliance</a:t>
            </a:r>
          </a:p>
          <a:p>
            <a:r>
              <a:rPr lang="en-US" sz="1100" dirty="0">
                <a:solidFill>
                  <a:srgbClr val="F78166"/>
                </a:solidFill>
              </a:rPr>
              <a:t>Violated — must modify existing code</a:t>
            </a:r>
          </a:p>
        </p:txBody>
      </p:sp>
      <p:sp>
        <p:nvSpPr>
          <p:cNvPr id="36" name="Aft5"/>
          <p:cNvSpPr/>
          <p:nvPr/>
        </p:nvSpPr>
        <p:spPr>
          <a:xfrm>
            <a:off x="6793088" y="5661418"/>
            <a:ext cx="4200000" cy="820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100" dirty="0">
                <a:solidFill>
                  <a:srgbClr val="3FB950"/>
                </a:solidFill>
              </a:rPr>
              <a:t>✓  Satisfied — extend by adding</a:t>
            </a:r>
          </a:p>
        </p:txBody>
      </p:sp>
      <p:sp>
        <p:nvSpPr>
          <p:cNvPr id="37" name="Div5"/>
          <p:cNvSpPr/>
          <p:nvPr/>
        </p:nvSpPr>
        <p:spPr>
          <a:xfrm>
            <a:off x="6573088" y="5661418"/>
            <a:ext cx="30000" cy="820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158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668684" y="-19291"/>
            <a:ext cx="18000" cy="685800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668684" y="6686709"/>
            <a:ext cx="9144000" cy="152000"/>
          </a:xfrm>
          <a:prstGeom prst="rect">
            <a:avLst/>
          </a:prstGeom>
          <a:gradFill>
            <a:gsLst>
              <a:gs pos="0">
                <a:srgbClr val="FFA657"/>
              </a:gs>
              <a:gs pos="50000">
                <a:srgbClr val="D2A8FF"/>
              </a:gs>
              <a:gs pos="100000">
                <a:srgbClr val="58A6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1868684" y="130709"/>
            <a:ext cx="87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🔍 How to </a:t>
            </a:r>
            <a:r>
              <a:rPr lang="en-US" sz="2800" b="1" dirty="0">
                <a:solidFill>
                  <a:srgbClr val="FFA657"/>
                </a:solidFill>
                <a:latin typeface="Segoe UI Semibold"/>
              </a:rPr>
              <a:t>Identify</a:t>
            </a:r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 the State Pattern Opportunity</a:t>
            </a:r>
          </a:p>
        </p:txBody>
      </p:sp>
      <p:sp>
        <p:nvSpPr>
          <p:cNvPr id="20" name="Sig0"/>
          <p:cNvSpPr/>
          <p:nvPr/>
        </p:nvSpPr>
        <p:spPr>
          <a:xfrm>
            <a:off x="1868684" y="680709"/>
            <a:ext cx="2760000" cy="23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F78166"/>
            </a:solidFill>
          </a:ln>
        </p:spPr>
        <p:txBody>
          <a:bodyPr wrap="square" lIns="180000" tIns="150000" rIns="180000" bIns="150000"/>
          <a:lstStyle/>
          <a:p>
            <a:pPr algn="ctr"/>
            <a:r>
              <a:rPr lang="en-US" sz="5600" b="1" dirty="0">
                <a:solidFill>
                  <a:srgbClr val="F78166"/>
                </a:solidFill>
              </a:rPr>
              <a:t>1</a:t>
            </a:r>
          </a:p>
          <a:p>
            <a:pPr algn="ctr"/>
            <a:r>
              <a:rPr lang="en-US" sz="1300" b="1" dirty="0">
                <a:solidFill>
                  <a:srgbClr val="F78166"/>
                </a:solidFill>
              </a:rPr>
              <a:t>Growing switch/if-else on status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If you see switch(status) or repeated if(status.equals(...)) in multiple methods — that's State Pattern calling.</a:t>
            </a:r>
          </a:p>
        </p:txBody>
      </p:sp>
      <p:sp>
        <p:nvSpPr>
          <p:cNvPr id="21" name="Sig1"/>
          <p:cNvSpPr/>
          <p:nvPr/>
        </p:nvSpPr>
        <p:spPr>
          <a:xfrm>
            <a:off x="4858683" y="680709"/>
            <a:ext cx="2760000" cy="23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FFA657"/>
            </a:solidFill>
          </a:ln>
        </p:spPr>
        <p:txBody>
          <a:bodyPr wrap="square" lIns="180000" tIns="150000" rIns="180000" bIns="150000"/>
          <a:lstStyle/>
          <a:p>
            <a:pPr algn="ctr"/>
            <a:r>
              <a:rPr lang="en-US" sz="5600" b="1" dirty="0">
                <a:solidFill>
                  <a:srgbClr val="FFA657"/>
                </a:solidFill>
              </a:rPr>
              <a:t>2</a:t>
            </a:r>
          </a:p>
          <a:p>
            <a:pPr algn="ctr"/>
            <a:r>
              <a:rPr lang="en-US" sz="1300" b="1" dirty="0">
                <a:solidFill>
                  <a:srgbClr val="FFA657"/>
                </a:solidFill>
              </a:rPr>
              <a:t>Behavior depends on current mode</a:t>
            </a:r>
          </a:p>
          <a:p>
            <a:r>
              <a:rPr lang="en-US" sz="1100" dirty="0">
                <a:solidFill>
                  <a:srgbClr val="C9D1D9"/>
                </a:solidFill>
              </a:rPr>
              <a:t>The same method (cancel(), process(), handleInput()) does DIFFERENT things depending on what mode/state the object is in.</a:t>
            </a:r>
          </a:p>
        </p:txBody>
      </p:sp>
      <p:sp>
        <p:nvSpPr>
          <p:cNvPr id="22" name="Sig2"/>
          <p:cNvSpPr/>
          <p:nvPr/>
        </p:nvSpPr>
        <p:spPr>
          <a:xfrm>
            <a:off x="7848684" y="680709"/>
            <a:ext cx="2760000" cy="23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D2A8FF"/>
            </a:solidFill>
          </a:ln>
        </p:spPr>
        <p:txBody>
          <a:bodyPr wrap="square" lIns="180000" tIns="150000" rIns="180000" bIns="150000"/>
          <a:lstStyle/>
          <a:p>
            <a:pPr algn="ctr"/>
            <a:r>
              <a:rPr lang="en-US" sz="5600" b="1" dirty="0">
                <a:solidFill>
                  <a:srgbClr val="D2A8FF"/>
                </a:solidFill>
              </a:rPr>
              <a:t>3</a:t>
            </a:r>
          </a:p>
          <a:p>
            <a:pPr algn="ctr"/>
            <a:r>
              <a:rPr lang="en-US" sz="1300" b="1" dirty="0">
                <a:solidFill>
                  <a:srgbClr val="D2A8FF"/>
                </a:solidFill>
              </a:rPr>
              <a:t>State transitions are explicit</a:t>
            </a:r>
          </a:p>
          <a:p>
            <a:r>
              <a:rPr lang="en-US" sz="1100" dirty="0">
                <a:solidFill>
                  <a:srgbClr val="C9D1D9"/>
                </a:solidFill>
              </a:rPr>
              <a:t>You can draw a state machine diagram with arrows (PLACED ➔ CONFIRMED ➔ SHIPPED). If transitions are named, apply the pattern.</a:t>
            </a:r>
          </a:p>
        </p:txBody>
      </p:sp>
      <p:sp>
        <p:nvSpPr>
          <p:cNvPr id="30" name="CheckHdr"/>
          <p:cNvSpPr/>
          <p:nvPr/>
        </p:nvSpPr>
        <p:spPr>
          <a:xfrm>
            <a:off x="1868684" y="3160709"/>
            <a:ext cx="87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800" b="1" dirty="0">
                <a:solidFill>
                  <a:srgbClr val="FFA657"/>
                </a:solidFill>
              </a:rPr>
              <a:t>✅ Mental Checklist — Ask Yourself:</a:t>
            </a:r>
          </a:p>
        </p:txBody>
      </p:sp>
      <p:sp>
        <p:nvSpPr>
          <p:cNvPr id="31" name="Chk0"/>
          <p:cNvSpPr/>
          <p:nvPr/>
        </p:nvSpPr>
        <p:spPr>
          <a:xfrm>
            <a:off x="1868684" y="3680709"/>
            <a:ext cx="8700000" cy="8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200" b="1" dirty="0">
                <a:solidFill>
                  <a:srgbClr val="F0F6FC"/>
                </a:solidFill>
              </a:rPr>
              <a:t>🔍 Does my object behave differently based on an internal status/mode?</a:t>
            </a:r>
          </a:p>
          <a:p>
            <a:r>
              <a:rPr lang="en-US" sz="1100" dirty="0">
                <a:solidFill>
                  <a:srgbClr val="3FB950"/>
                </a:solidFill>
              </a:rPr>
              <a:t>✓ YES → State Pattern candidate</a:t>
            </a:r>
            <a:r>
              <a:rPr lang="en-US" sz="1100" dirty="0">
                <a:solidFill>
                  <a:srgbClr val="8B949E"/>
                </a:solidFill>
              </a:rPr>
              <a:t>   |   No → probably not needed</a:t>
            </a:r>
          </a:p>
        </p:txBody>
      </p:sp>
      <p:sp>
        <p:nvSpPr>
          <p:cNvPr id="32" name="Chk1"/>
          <p:cNvSpPr/>
          <p:nvPr/>
        </p:nvSpPr>
        <p:spPr>
          <a:xfrm>
            <a:off x="1868684" y="4630709"/>
            <a:ext cx="8700000" cy="8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200" b="1" dirty="0">
                <a:solidFill>
                  <a:srgbClr val="F0F6FC"/>
                </a:solidFill>
              </a:rPr>
              <a:t>🔍 Are there more than 3 states and the list might grow?</a:t>
            </a:r>
          </a:p>
          <a:p>
            <a:r>
              <a:rPr lang="en-US" sz="1100" dirty="0">
                <a:solidFill>
                  <a:srgbClr val="3FB950"/>
                </a:solidFill>
              </a:rPr>
              <a:t>✓ YES → definitely use it</a:t>
            </a:r>
            <a:r>
              <a:rPr lang="en-US" sz="1100" dirty="0">
                <a:solidFill>
                  <a:srgbClr val="8B949E"/>
                </a:solidFill>
              </a:rPr>
              <a:t>   |   2 states → a boolean might suffice</a:t>
            </a:r>
          </a:p>
        </p:txBody>
      </p:sp>
      <p:sp>
        <p:nvSpPr>
          <p:cNvPr id="33" name="Chk2"/>
          <p:cNvSpPr/>
          <p:nvPr/>
        </p:nvSpPr>
        <p:spPr>
          <a:xfrm>
            <a:off x="1868684" y="5580709"/>
            <a:ext cx="8700000" cy="8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0363D"/>
            </a:solidFill>
          </a:ln>
        </p:spPr>
        <p:txBody>
          <a:bodyPr wrap="square" lIns="150000" tIns="80000" rIns="150000" bIns="80000"/>
          <a:lstStyle/>
          <a:p>
            <a:r>
              <a:rPr lang="en-US" sz="1200" b="1" dirty="0">
                <a:solidFill>
                  <a:srgbClr val="F0F6FC"/>
                </a:solidFill>
              </a:rPr>
              <a:t>🔍 Am I copying if(state == X) checks across multiple methods?</a:t>
            </a:r>
          </a:p>
          <a:p>
            <a:r>
              <a:rPr lang="en-US" sz="1100" dirty="0">
                <a:solidFill>
                  <a:srgbClr val="3FB950"/>
                </a:solidFill>
              </a:rPr>
              <a:t>✓ YES → urgent — refactor now</a:t>
            </a:r>
            <a:r>
              <a:rPr lang="en-US" sz="1100" dirty="0">
                <a:solidFill>
                  <a:srgbClr val="8B949E"/>
                </a:solidFill>
              </a:rPr>
              <a:t>   |   No → you may be fine</a:t>
            </a:r>
          </a:p>
        </p:txBody>
      </p:sp>
    </p:spTree>
    <p:extLst>
      <p:ext uri="{BB962C8B-B14F-4D97-AF65-F5344CB8AC3E}">
        <p14:creationId xmlns:p14="http://schemas.microsoft.com/office/powerpoint/2010/main" val="4027274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909823" y="38582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909823" y="6744582"/>
            <a:ext cx="9144000" cy="152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D2A8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2109823" y="188582"/>
            <a:ext cx="87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🌐 State Pattern </a:t>
            </a:r>
            <a:r>
              <a:rPr lang="en-US" sz="2800" b="1" dirty="0">
                <a:solidFill>
                  <a:srgbClr val="58A6FF"/>
                </a:solidFill>
                <a:latin typeface="Segoe UI Semibold"/>
              </a:rPr>
              <a:t>In the Wild</a:t>
            </a:r>
          </a:p>
        </p:txBody>
      </p:sp>
      <p:sp>
        <p:nvSpPr>
          <p:cNvPr id="20" name="Ex0"/>
          <p:cNvSpPr/>
          <p:nvPr/>
        </p:nvSpPr>
        <p:spPr>
          <a:xfrm>
            <a:off x="2109823" y="7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58A6FF"/>
                </a:solidFill>
              </a:rPr>
              <a:t>🌐</a:t>
            </a:r>
          </a:p>
          <a:p>
            <a:pPr algn="ctr"/>
            <a:r>
              <a:rPr lang="en-US" sz="1400" b="1" dirty="0">
                <a:solidFill>
                  <a:srgbClr val="58A6FF"/>
                </a:solidFill>
              </a:rPr>
              <a:t>TCP Connection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LISTEN → SYN_RCVD → ESTABLISHED → FIN_WAIT → CLOSED</a:t>
            </a:r>
          </a:p>
          <a:p>
            <a:r>
              <a:rPr lang="en-US" sz="1000" dirty="0">
                <a:solidFill>
                  <a:srgbClr val="C9D1D9"/>
                </a:solidFill>
              </a:rPr>
              <a:t>java.net.Socket internally uses State Pattern — send() behaves completely differently in each TCP state.</a:t>
            </a:r>
          </a:p>
        </p:txBody>
      </p:sp>
      <p:sp>
        <p:nvSpPr>
          <p:cNvPr id="21" name="Ex1"/>
          <p:cNvSpPr/>
          <p:nvPr/>
        </p:nvSpPr>
        <p:spPr>
          <a:xfrm>
            <a:off x="5089823" y="7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3FB950"/>
                </a:solidFill>
              </a:rPr>
              <a:t>🎮</a:t>
            </a:r>
          </a:p>
          <a:p>
            <a:pPr algn="ctr"/>
            <a:r>
              <a:rPr lang="en-US" sz="1400" b="1" dirty="0">
                <a:solidFill>
                  <a:srgbClr val="3FB950"/>
                </a:solidFill>
              </a:rPr>
              <a:t>Game Character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IDLE → RUNNING → JUMPING → ATTACKING → DEAD</a:t>
            </a:r>
          </a:p>
          <a:p>
            <a:r>
              <a:rPr lang="en-US" sz="1000" dirty="0">
                <a:solidFill>
                  <a:srgbClr val="C9D1D9"/>
                </a:solidFill>
              </a:rPr>
              <a:t>Unity / game engines: character.attack() is ignored in DEAD state. Each state handles physics, animations separately.</a:t>
            </a:r>
          </a:p>
        </p:txBody>
      </p:sp>
      <p:sp>
        <p:nvSpPr>
          <p:cNvPr id="22" name="Ex2"/>
          <p:cNvSpPr/>
          <p:nvPr/>
        </p:nvSpPr>
        <p:spPr>
          <a:xfrm>
            <a:off x="8069823" y="7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FFA657"/>
                </a:solidFill>
              </a:rPr>
              <a:t>💳</a:t>
            </a:r>
          </a:p>
          <a:p>
            <a:pPr algn="ctr"/>
            <a:r>
              <a:rPr lang="en-US" sz="1400" b="1" dirty="0">
                <a:solidFill>
                  <a:srgbClr val="FFA657"/>
                </a:solidFill>
              </a:rPr>
              <a:t>Payment Gateway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PENDING → AUTHORIZED → CAPTURED → REFUNDED → DISPUTED</a:t>
            </a:r>
          </a:p>
          <a:p>
            <a:r>
              <a:rPr lang="en-US" sz="1000" dirty="0">
                <a:solidFill>
                  <a:srgbClr val="C9D1D9"/>
                </a:solidFill>
              </a:rPr>
              <a:t>Stripe, PayPal: capture() on a REFUNDED payment throws. Each state enforces its own allowed operations.</a:t>
            </a:r>
          </a:p>
        </p:txBody>
      </p:sp>
      <p:sp>
        <p:nvSpPr>
          <p:cNvPr id="23" name="Ex3"/>
          <p:cNvSpPr/>
          <p:nvPr/>
        </p:nvSpPr>
        <p:spPr>
          <a:xfrm>
            <a:off x="2109823" y="35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D2A8FF"/>
                </a:solidFill>
              </a:rPr>
              <a:t>📱</a:t>
            </a:r>
          </a:p>
          <a:p>
            <a:pPr algn="ctr"/>
            <a:r>
              <a:rPr lang="en-US" sz="1400" b="1" dirty="0">
                <a:solidFill>
                  <a:srgbClr val="D2A8FF"/>
                </a:solidFill>
              </a:rPr>
              <a:t>UI / React Components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IDLE → LOADING → SUCCESS → ERROR → EMPTY</a:t>
            </a:r>
          </a:p>
          <a:p>
            <a:r>
              <a:rPr lang="en-US" sz="1000" dirty="0">
                <a:solidFill>
                  <a:srgbClr val="C9D1D9"/>
                </a:solidFill>
              </a:rPr>
              <a:t>XState (JS) and useReducer patterns. Your submit button renders differently in LOADING vs ERROR state.</a:t>
            </a:r>
          </a:p>
        </p:txBody>
      </p:sp>
      <p:sp>
        <p:nvSpPr>
          <p:cNvPr id="24" name="Ex4"/>
          <p:cNvSpPr/>
          <p:nvPr/>
        </p:nvSpPr>
        <p:spPr>
          <a:xfrm>
            <a:off x="5089823" y="35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F78166"/>
                </a:solidFill>
              </a:rPr>
              <a:t>📄</a:t>
            </a:r>
          </a:p>
          <a:p>
            <a:pPr algn="ctr"/>
            <a:r>
              <a:rPr lang="en-US" sz="1400" b="1" dirty="0">
                <a:solidFill>
                  <a:srgbClr val="F78166"/>
                </a:solidFill>
              </a:rPr>
              <a:t>Document Workflow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DRAFT → REVIEW → APPROVED → PUBLISHED → ARCHIVED</a:t>
            </a:r>
          </a:p>
          <a:p>
            <a:r>
              <a:rPr lang="en-US" sz="1000" dirty="0">
                <a:solidFill>
                  <a:srgbClr val="C9D1D9"/>
                </a:solidFill>
              </a:rPr>
              <a:t>CMS, legal systems, GitLab MR workflows. submit() on DRAFT triggers review, but submit() on PUBLISHED is invalid.</a:t>
            </a:r>
          </a:p>
        </p:txBody>
      </p:sp>
      <p:sp>
        <p:nvSpPr>
          <p:cNvPr id="25" name="Ex5"/>
          <p:cNvSpPr/>
          <p:nvPr/>
        </p:nvSpPr>
        <p:spPr>
          <a:xfrm>
            <a:off x="8069823" y="3558582"/>
            <a:ext cx="2760000" cy="255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19050">
            <a:solidFill>
              <a:srgbClr val="79C0FF"/>
            </a:solidFill>
          </a:ln>
        </p:spPr>
        <p:txBody>
          <a:bodyPr wrap="square" lIns="150000" tIns="120000" rIns="150000" bIns="120000"/>
          <a:lstStyle/>
          <a:p>
            <a:pPr algn="ctr"/>
            <a:r>
              <a:rPr lang="en-US" sz="2800" dirty="0">
                <a:solidFill>
                  <a:srgbClr val="79C0FF"/>
                </a:solidFill>
              </a:rPr>
              <a:t>🤖</a:t>
            </a:r>
          </a:p>
          <a:p>
            <a:pPr algn="ctr"/>
            <a:r>
              <a:rPr lang="en-US" sz="1400" b="1" dirty="0">
                <a:solidFill>
                  <a:srgbClr val="79C0FF"/>
                </a:solidFill>
              </a:rPr>
              <a:t>Spring StateMachine</a:t>
            </a:r>
          </a:p>
          <a:p>
            <a:r>
              <a:rPr lang="en-US" sz="900" dirty="0">
                <a:solidFill>
                  <a:srgbClr val="8B949E"/>
                </a:solidFill>
                <a:latin typeface="Consolas"/>
              </a:rPr>
              <a:t>Spring STATEMACHINE Framework — production-grade implementation</a:t>
            </a:r>
          </a:p>
          <a:p>
            <a:r>
              <a:rPr lang="en-US" sz="1000" dirty="0">
                <a:solidFill>
                  <a:srgbClr val="C9D1D9"/>
                </a:solidFill>
              </a:rPr>
              <a:t>org.springframework.statemachine — used in real enterprise apps for order, workflow, and approval engines.</a:t>
            </a:r>
          </a:p>
        </p:txBody>
      </p:sp>
    </p:spTree>
    <p:extLst>
      <p:ext uri="{BB962C8B-B14F-4D97-AF65-F5344CB8AC3E}">
        <p14:creationId xmlns:p14="http://schemas.microsoft.com/office/powerpoint/2010/main" val="288932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861595" y="-57873"/>
            <a:ext cx="18000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861595" y="6648127"/>
            <a:ext cx="9144000" cy="152000"/>
          </a:xfrm>
          <a:prstGeom prst="rect">
            <a:avLst/>
          </a:prstGeom>
          <a:gradFill>
            <a:gsLst>
              <a:gs pos="0">
                <a:srgbClr val="3FB950"/>
              </a:gs>
              <a:gs pos="50000">
                <a:srgbClr val="58A6FF"/>
              </a:gs>
              <a:gs pos="100000">
                <a:srgbClr val="D2A8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itle"/>
          <p:cNvSpPr/>
          <p:nvPr/>
        </p:nvSpPr>
        <p:spPr>
          <a:xfrm>
            <a:off x="2061595" y="92127"/>
            <a:ext cx="8700000" cy="4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800" b="1" dirty="0">
                <a:solidFill>
                  <a:srgbClr val="F0F6FC"/>
                </a:solidFill>
                <a:latin typeface="Segoe UI Semibold"/>
              </a:rPr>
              <a:t>🎉 Key Takeaways — </a:t>
            </a:r>
            <a:r>
              <a:rPr lang="en-US" sz="2800" b="1" dirty="0">
                <a:solidFill>
                  <a:srgbClr val="3FB950"/>
                </a:solidFill>
                <a:latin typeface="Segoe UI Semibold"/>
              </a:rPr>
              <a:t>What You Now Know</a:t>
            </a:r>
          </a:p>
        </p:txBody>
      </p:sp>
      <p:sp>
        <p:nvSpPr>
          <p:cNvPr id="20" name="TK0"/>
          <p:cNvSpPr/>
          <p:nvPr/>
        </p:nvSpPr>
        <p:spPr>
          <a:xfrm>
            <a:off x="2061595" y="66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58A6FF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58A6FF">
                    <a:alpha val="30000"/>
                  </a:srgbClr>
                </a:solidFill>
              </a:rPr>
              <a:t>01 </a:t>
            </a:r>
            <a:r>
              <a:rPr lang="en-US" sz="1500" b="1" dirty="0">
                <a:solidFill>
                  <a:srgbClr val="58A6FF"/>
                </a:solidFill>
              </a:rPr>
              <a:t>It starts with PAIN</a:t>
            </a:r>
          </a:p>
          <a:p>
            <a:r>
              <a:rPr lang="en-US" sz="1200" dirty="0">
                <a:solidFill>
                  <a:srgbClr val="C9D1D9"/>
                </a:solidFill>
              </a:rPr>
              <a:t>Identify it when you see growing if/else chains on status fields across multiple methods. That's your signal.</a:t>
            </a:r>
          </a:p>
        </p:txBody>
      </p:sp>
      <p:sp>
        <p:nvSpPr>
          <p:cNvPr id="21" name="TK1"/>
          <p:cNvSpPr/>
          <p:nvPr/>
        </p:nvSpPr>
        <p:spPr>
          <a:xfrm>
            <a:off x="6561595" y="66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D2A8FF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D2A8FF">
                    <a:alpha val="30000"/>
                  </a:srgbClr>
                </a:solidFill>
              </a:rPr>
              <a:t>02 </a:t>
            </a:r>
            <a:r>
              <a:rPr lang="en-US" sz="1500" b="1" dirty="0">
                <a:solidFill>
                  <a:srgbClr val="D2A8FF"/>
                </a:solidFill>
              </a:rPr>
              <a:t>State = Object</a:t>
            </a:r>
          </a:p>
          <a:p>
            <a:r>
              <a:rPr lang="en-US" sz="1200" dirty="0">
                <a:solidFill>
                  <a:srgbClr val="C9D1D9"/>
                </a:solidFill>
              </a:rPr>
              <a:t>Each state becomes its own class implementing a common interface. Behavior is encapsulated where it belongs.</a:t>
            </a:r>
          </a:p>
        </p:txBody>
      </p:sp>
      <p:sp>
        <p:nvSpPr>
          <p:cNvPr id="22" name="TK2"/>
          <p:cNvSpPr/>
          <p:nvPr/>
        </p:nvSpPr>
        <p:spPr>
          <a:xfrm>
            <a:off x="2061595" y="253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3FB950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3FB950">
                    <a:alpha val="30000"/>
                  </a:srgbClr>
                </a:solidFill>
              </a:rPr>
              <a:t>03 </a:t>
            </a:r>
            <a:r>
              <a:rPr lang="en-US" sz="1500" b="1" dirty="0">
                <a:solidFill>
                  <a:srgbClr val="3FB950"/>
                </a:solidFill>
              </a:rPr>
              <a:t>Context just delegates</a:t>
            </a:r>
          </a:p>
          <a:p>
            <a:r>
              <a:rPr lang="en-US" sz="1200" dirty="0">
                <a:solidFill>
                  <a:srgbClr val="C9D1D9"/>
                </a:solidFill>
              </a:rPr>
              <a:t>Order.cancel() is one line: state.cancel(this). No logic. No if/else. Pure delegation.</a:t>
            </a:r>
          </a:p>
        </p:txBody>
      </p:sp>
      <p:sp>
        <p:nvSpPr>
          <p:cNvPr id="23" name="TK3"/>
          <p:cNvSpPr/>
          <p:nvPr/>
        </p:nvSpPr>
        <p:spPr>
          <a:xfrm>
            <a:off x="6561595" y="253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FA657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FFA657">
                    <a:alpha val="30000"/>
                  </a:srgbClr>
                </a:solidFill>
              </a:rPr>
              <a:t>04 </a:t>
            </a:r>
            <a:r>
              <a:rPr lang="en-US" sz="1500" b="1" dirty="0">
                <a:solidFill>
                  <a:srgbClr val="FFA657"/>
                </a:solidFill>
              </a:rPr>
              <a:t>States own their transitions</a:t>
            </a:r>
          </a:p>
          <a:p>
            <a:r>
              <a:rPr lang="en-US" sz="1200" dirty="0">
                <a:solidFill>
                  <a:srgbClr val="C9D1D9"/>
                </a:solidFill>
              </a:rPr>
              <a:t>PlacedState decides where to go next by calling order.setState(new ConfirmedState()). The context never decides.</a:t>
            </a:r>
          </a:p>
        </p:txBody>
      </p:sp>
      <p:sp>
        <p:nvSpPr>
          <p:cNvPr id="24" name="TK4"/>
          <p:cNvSpPr/>
          <p:nvPr/>
        </p:nvSpPr>
        <p:spPr>
          <a:xfrm>
            <a:off x="2061595" y="440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F78166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F78166">
                    <a:alpha val="30000"/>
                  </a:srgbClr>
                </a:solidFill>
              </a:rPr>
              <a:t>05 </a:t>
            </a:r>
            <a:r>
              <a:rPr lang="en-US" sz="1500" b="1" dirty="0">
                <a:solidFill>
                  <a:srgbClr val="F78166"/>
                </a:solidFill>
              </a:rPr>
              <a:t>SOLID principles are the WHY</a:t>
            </a:r>
          </a:p>
          <a:p>
            <a:r>
              <a:rPr lang="en-US" sz="1200" dirty="0">
                <a:solidFill>
                  <a:srgbClr val="C9D1D9"/>
                </a:solidFill>
              </a:rPr>
              <a:t>SRP — one reason to change. OCP — add states without modifying existing code. This is why the pattern exists.</a:t>
            </a:r>
          </a:p>
        </p:txBody>
      </p:sp>
      <p:sp>
        <p:nvSpPr>
          <p:cNvPr id="25" name="TK5"/>
          <p:cNvSpPr/>
          <p:nvPr/>
        </p:nvSpPr>
        <p:spPr>
          <a:xfrm>
            <a:off x="6561595" y="4402127"/>
            <a:ext cx="4250000" cy="170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9050">
            <a:solidFill>
              <a:srgbClr val="79C0FF"/>
            </a:solidFill>
          </a:ln>
        </p:spPr>
        <p:txBody>
          <a:bodyPr wrap="square" lIns="180000" tIns="120000" rIns="180000" bIns="120000"/>
          <a:lstStyle/>
          <a:p>
            <a:r>
              <a:rPr lang="en-US" sz="3200" b="1" dirty="0">
                <a:solidFill>
                  <a:srgbClr val="79C0FF">
                    <a:alpha val="30000"/>
                  </a:srgbClr>
                </a:solidFill>
              </a:rPr>
              <a:t>06 </a:t>
            </a:r>
            <a:r>
              <a:rPr lang="en-US" sz="1500" b="1" dirty="0">
                <a:solidFill>
                  <a:srgbClr val="79C0FF"/>
                </a:solidFill>
              </a:rPr>
              <a:t>It's everywhere — now you'll see it</a:t>
            </a:r>
          </a:p>
          <a:p>
            <a:r>
              <a:rPr lang="en-US" sz="1200" dirty="0">
                <a:solidFill>
                  <a:srgbClr val="C9D1D9"/>
                </a:solidFill>
              </a:rPr>
              <a:t>TCP connections, payment gateways, game engines, UI components. You'll recognize it in the next code review.</a:t>
            </a:r>
          </a:p>
        </p:txBody>
      </p:sp>
    </p:spTree>
    <p:extLst>
      <p:ext uri="{BB962C8B-B14F-4D97-AF65-F5344CB8AC3E}">
        <p14:creationId xmlns:p14="http://schemas.microsoft.com/office/powerpoint/2010/main" val="347878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2131671" y="-9646"/>
            <a:ext cx="18000" cy="6858000"/>
          </a:xfrm>
          <a:prstGeom prst="rect">
            <a:avLst/>
          </a:prstGeom>
          <a:solidFill>
            <a:srgbClr val="F781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2131671" y="6696354"/>
            <a:ext cx="9144000" cy="152000"/>
          </a:xfrm>
          <a:prstGeom prst="rect">
            <a:avLst/>
          </a:prstGeom>
          <a:gradFill>
            <a:gsLst>
              <a:gs pos="0">
                <a:srgbClr val="F78166"/>
              </a:gs>
              <a:gs pos="50000">
                <a:srgbClr val="FFA657"/>
              </a:gs>
              <a:gs pos="100000">
                <a:srgbClr val="D2A8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1Done"/>
          <p:cNvSpPr/>
          <p:nvPr/>
        </p:nvSpPr>
        <p:spPr>
          <a:xfrm>
            <a:off x="2331671" y="190354"/>
            <a:ext cx="3500000" cy="500000"/>
          </a:xfrm>
          <a:prstGeom prst="roundRect">
            <a:avLst>
              <a:gd name="adj" fmla="val 50000"/>
            </a:avLst>
          </a:prstGeom>
          <a:solidFill>
            <a:srgbClr val="3FB950">
              <a:alpha val="20000"/>
            </a:srgbClr>
          </a:solidFill>
          <a:ln w="19050">
            <a:solidFill>
              <a:srgbClr val="3FB950"/>
            </a:solidFill>
          </a:ln>
        </p:spPr>
        <p:txBody>
          <a:bodyPr lIns="120000" tIns="0" rIns="120000" bIns="0" anchor="ctr"/>
          <a:lstStyle/>
          <a:p>
            <a:r>
              <a:rPr lang="en-US" sz="1600" b="1" dirty="0">
                <a:solidFill>
                  <a:srgbClr val="3FB950"/>
                </a:solidFill>
              </a:rPr>
              <a:t>✓ Part 1 Complete</a:t>
            </a:r>
          </a:p>
        </p:txBody>
      </p:sp>
      <p:sp>
        <p:nvSpPr>
          <p:cNvPr id="13" name="P2Hdr"/>
          <p:cNvSpPr/>
          <p:nvPr/>
        </p:nvSpPr>
        <p:spPr>
          <a:xfrm>
            <a:off x="2331671" y="890354"/>
            <a:ext cx="8700000" cy="7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600" dirty="0">
                <a:solidFill>
                  <a:srgbClr val="8B949E"/>
                </a:solidFill>
                <a:latin typeface="Segoe UI Semibold"/>
              </a:rPr>
              <a:t>COMING UP NEXT</a:t>
            </a:r>
          </a:p>
          <a:p>
            <a:pPr algn="ctr"/>
            <a:r>
              <a:rPr lang="en-US" sz="4000" b="1" dirty="0">
                <a:solidFill>
                  <a:srgbClr val="F78166"/>
                </a:solidFill>
                <a:latin typeface="Segoe UI Semibold"/>
              </a:rPr>
              <a:t>Part 2: The Dark Side</a:t>
            </a:r>
          </a:p>
        </p:txBody>
      </p:sp>
      <p:sp>
        <p:nvSpPr>
          <p:cNvPr id="20" name="Prev0"/>
          <p:cNvSpPr/>
          <p:nvPr/>
        </p:nvSpPr>
        <p:spPr>
          <a:xfrm>
            <a:off x="2331671" y="1790354"/>
            <a:ext cx="2750000" cy="45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F78166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3600" dirty="0">
                <a:solidFill>
                  <a:srgbClr val="F78166"/>
                </a:solidFill>
              </a:rPr>
              <a:t>⚠️</a:t>
            </a:r>
          </a:p>
          <a:p>
            <a:pPr algn="ctr"/>
            <a:r>
              <a:rPr lang="en-US" sz="1600" b="1" dirty="0">
                <a:solidFill>
                  <a:srgbClr val="F78166"/>
                </a:solidFill>
              </a:rPr>
              <a:t>Limitations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Class explosion with many states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State sharing complexity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Memory: stateless vs stateful objects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Thread safety concerns</a:t>
            </a:r>
          </a:p>
        </p:txBody>
      </p:sp>
      <p:sp>
        <p:nvSpPr>
          <p:cNvPr id="21" name="Prev1"/>
          <p:cNvSpPr/>
          <p:nvPr/>
        </p:nvSpPr>
        <p:spPr>
          <a:xfrm>
            <a:off x="5311671" y="1790354"/>
            <a:ext cx="2750000" cy="45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FFA657"/>
            </a:solidFill>
          </a:ln>
        </p:spPr>
        <p:txBody>
          <a:bodyPr wrap="square" lIns="150000" tIns="150000" rIns="150000" bIns="150000" anchor="t"/>
          <a:lstStyle/>
          <a:p>
            <a:pPr algn="ctr"/>
            <a:r>
              <a:rPr lang="en-US" sz="3600" dirty="0">
                <a:solidFill>
                  <a:srgbClr val="FFA657"/>
                </a:solidFill>
              </a:rPr>
              <a:t>☠️</a:t>
            </a:r>
          </a:p>
          <a:p>
            <a:pPr algn="ctr"/>
            <a:r>
              <a:rPr lang="en-US" sz="1600" b="1" dirty="0">
                <a:solidFill>
                  <a:srgbClr val="FFA657"/>
                </a:solidFill>
              </a:rPr>
              <a:t>Anti-Patterns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God State (too much in one state)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Transition logic leaking into Context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Using State when a simple </a:t>
            </a:r>
            <a:r>
              <a:rPr lang="en-US" sz="1100" dirty="0" err="1">
                <a:solidFill>
                  <a:srgbClr val="C9D1D9"/>
                </a:solidFill>
              </a:rPr>
              <a:t>boolean</a:t>
            </a:r>
            <a:r>
              <a:rPr lang="en-US" sz="1100" dirty="0">
                <a:solidFill>
                  <a:srgbClr val="C9D1D9"/>
                </a:solidFill>
              </a:rPr>
              <a:t> works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Forgetting to handle illegal transitions</a:t>
            </a:r>
          </a:p>
        </p:txBody>
      </p:sp>
      <p:sp>
        <p:nvSpPr>
          <p:cNvPr id="22" name="Prev2"/>
          <p:cNvSpPr/>
          <p:nvPr/>
        </p:nvSpPr>
        <p:spPr>
          <a:xfrm>
            <a:off x="8291671" y="1790354"/>
            <a:ext cx="2750000" cy="4500000"/>
          </a:xfrm>
          <a:prstGeom prst="roundRect">
            <a:avLst>
              <a:gd name="adj" fmla="val 10000"/>
            </a:avLst>
          </a:prstGeom>
          <a:solidFill>
            <a:srgbClr val="1C2128"/>
          </a:solidFill>
          <a:ln w="25400">
            <a:solidFill>
              <a:srgbClr val="D2A8FF"/>
            </a:solidFill>
          </a:ln>
        </p:spPr>
        <p:txBody>
          <a:bodyPr wrap="square" lIns="150000" tIns="150000" rIns="150000" bIns="150000"/>
          <a:lstStyle/>
          <a:p>
            <a:pPr algn="ctr"/>
            <a:r>
              <a:rPr lang="en-US" sz="3600" dirty="0">
                <a:solidFill>
                  <a:srgbClr val="D2A8FF"/>
                </a:solidFill>
              </a:rPr>
              <a:t>🔬</a:t>
            </a:r>
          </a:p>
          <a:p>
            <a:pPr algn="ctr"/>
            <a:r>
              <a:rPr lang="en-US" sz="1600" b="1" dirty="0">
                <a:solidFill>
                  <a:srgbClr val="D2A8FF"/>
                </a:solidFill>
              </a:rPr>
              <a:t>When NOT to Use It</a:t>
            </a:r>
          </a:p>
          <a:p>
            <a:r>
              <a:rPr lang="en-US" sz="900" dirty="0">
                <a:solidFill>
                  <a:srgbClr val="30363D"/>
                </a:solidFill>
              </a:rPr>
              <a:t>─────────────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2 states → use a boolean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No behavior difference → use enum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Performance-critical paths</a:t>
            </a:r>
          </a:p>
          <a:p>
            <a:r>
              <a:rPr lang="en-US" sz="1100" dirty="0">
                <a:solidFill>
                  <a:srgbClr val="C9D1D9"/>
                </a:solidFill>
              </a:rPr>
              <a:t>• States never change at runtime</a:t>
            </a:r>
          </a:p>
        </p:txBody>
      </p:sp>
    </p:spTree>
    <p:extLst>
      <p:ext uri="{BB962C8B-B14F-4D97-AF65-F5344CB8AC3E}">
        <p14:creationId xmlns:p14="http://schemas.microsoft.com/office/powerpoint/2010/main" val="423803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0D1117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B"/>
          <p:cNvSpPr/>
          <p:nvPr/>
        </p:nvSpPr>
        <p:spPr>
          <a:xfrm>
            <a:off x="1919468" y="-19291"/>
            <a:ext cx="180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BB"/>
          <p:cNvSpPr/>
          <p:nvPr/>
        </p:nvSpPr>
        <p:spPr>
          <a:xfrm>
            <a:off x="1919468" y="6686709"/>
            <a:ext cx="9144000" cy="15200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D2A8FF"/>
              </a:gs>
              <a:gs pos="100000">
                <a:srgbClr val="3FB95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QCircle"/>
          <p:cNvSpPr/>
          <p:nvPr/>
        </p:nvSpPr>
        <p:spPr>
          <a:xfrm>
            <a:off x="5441468" y="280709"/>
            <a:ext cx="2100000" cy="2100000"/>
          </a:xfrm>
          <a:prstGeom prst="ellipse">
            <a:avLst/>
          </a:prstGeom>
          <a:solidFill>
            <a:srgbClr val="58A6FF">
              <a:alpha val="10000"/>
            </a:srgbClr>
          </a:solidFill>
          <a:ln w="25400">
            <a:solidFill>
              <a:srgbClr val="58A6FF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8000" b="1" dirty="0">
                <a:solidFill>
                  <a:srgbClr val="58A6FF"/>
                </a:solidFill>
              </a:rPr>
              <a:t>?</a:t>
            </a:r>
          </a:p>
        </p:txBody>
      </p:sp>
      <p:sp>
        <p:nvSpPr>
          <p:cNvPr id="13" name="QTitle"/>
          <p:cNvSpPr/>
          <p:nvPr/>
        </p:nvSpPr>
        <p:spPr>
          <a:xfrm>
            <a:off x="2119468" y="2580709"/>
            <a:ext cx="8700000" cy="7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4400" b="1" dirty="0">
                <a:solidFill>
                  <a:srgbClr val="F0F6FC"/>
                </a:solidFill>
                <a:latin typeface="Segoe UI Semibold"/>
              </a:rPr>
              <a:t>Questions </a:t>
            </a:r>
            <a:r>
              <a:rPr lang="en-US" sz="4400" b="1" dirty="0">
                <a:solidFill>
                  <a:srgbClr val="58A6FF"/>
                </a:solidFill>
                <a:latin typeface="Segoe UI Semibold"/>
              </a:rPr>
              <a:t>&amp;</a:t>
            </a:r>
            <a:r>
              <a:rPr lang="en-US" sz="4400" b="1" dirty="0">
                <a:solidFill>
                  <a:srgbClr val="F0F6FC"/>
                </a:solidFill>
                <a:latin typeface="Segoe UI Semibold"/>
              </a:rPr>
              <a:t> Discussion</a:t>
            </a:r>
          </a:p>
        </p:txBody>
      </p:sp>
      <p:sp>
        <p:nvSpPr>
          <p:cNvPr id="20" name="Pr0"/>
          <p:cNvSpPr/>
          <p:nvPr/>
        </p:nvSpPr>
        <p:spPr>
          <a:xfrm>
            <a:off x="2119468" y="3530709"/>
            <a:ext cx="8700000" cy="8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FFA657"/>
            </a:solidFill>
          </a:ln>
        </p:spPr>
        <p:txBody>
          <a:bodyPr wrap="square" lIns="180000" tIns="80000" rIns="180000" bIns="80000" anchor="ctr"/>
          <a:lstStyle/>
          <a:p>
            <a:r>
              <a:rPr lang="en-US" sz="1400" b="1" dirty="0">
                <a:solidFill>
                  <a:srgbClr val="FFA657"/>
                </a:solidFill>
              </a:rPr>
              <a:t>💡  </a:t>
            </a:r>
            <a:r>
              <a:rPr lang="en-US" sz="1300" dirty="0">
                <a:solidFill>
                  <a:srgbClr val="C9D1D9"/>
                </a:solidFill>
              </a:rPr>
              <a:t>Can you think of an existing class in our codebase that would benefit from the State Pattern?</a:t>
            </a:r>
          </a:p>
        </p:txBody>
      </p:sp>
      <p:sp>
        <p:nvSpPr>
          <p:cNvPr id="21" name="Pr1"/>
          <p:cNvSpPr/>
          <p:nvPr/>
        </p:nvSpPr>
        <p:spPr>
          <a:xfrm>
            <a:off x="2119468" y="4530709"/>
            <a:ext cx="8700000" cy="8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D2A8FF"/>
            </a:solidFill>
          </a:ln>
        </p:spPr>
        <p:txBody>
          <a:bodyPr wrap="square" lIns="180000" tIns="80000" rIns="180000" bIns="80000" anchor="ctr"/>
          <a:lstStyle/>
          <a:p>
            <a:r>
              <a:rPr lang="en-US" sz="1400" b="1" dirty="0">
                <a:solidFill>
                  <a:srgbClr val="D2A8FF"/>
                </a:solidFill>
              </a:rPr>
              <a:t>🛠  </a:t>
            </a:r>
            <a:r>
              <a:rPr lang="en-US" sz="1300" dirty="0">
                <a:solidFill>
                  <a:srgbClr val="C9D1D9"/>
                </a:solidFill>
              </a:rPr>
              <a:t>If we needed to add a RETURN_REQUESTED state today, how would you do it with the pattern?</a:t>
            </a:r>
          </a:p>
        </p:txBody>
      </p:sp>
      <p:sp>
        <p:nvSpPr>
          <p:cNvPr id="22" name="Pr2"/>
          <p:cNvSpPr/>
          <p:nvPr/>
        </p:nvSpPr>
        <p:spPr>
          <a:xfrm>
            <a:off x="2119468" y="5530709"/>
            <a:ext cx="8700000" cy="8500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FB950"/>
            </a:solidFill>
          </a:ln>
        </p:spPr>
        <p:txBody>
          <a:bodyPr wrap="square" lIns="180000" tIns="80000" rIns="180000" bIns="80000" anchor="ctr"/>
          <a:lstStyle/>
          <a:p>
            <a:r>
              <a:rPr lang="en-US" sz="1400" b="1" dirty="0">
                <a:solidFill>
                  <a:srgbClr val="3FB950"/>
                </a:solidFill>
              </a:rPr>
              <a:t>👀  </a:t>
            </a:r>
            <a:r>
              <a:rPr lang="en-US" sz="1300" dirty="0">
                <a:solidFill>
                  <a:srgbClr val="C9D1D9"/>
                </a:solidFill>
              </a:rPr>
              <a:t>What's the difference between State Pattern and Strategy Pattern? (Hint: think about who initiates transitions)</a:t>
            </a:r>
          </a:p>
        </p:txBody>
      </p:sp>
    </p:spTree>
    <p:extLst>
      <p:ext uri="{BB962C8B-B14F-4D97-AF65-F5344CB8AC3E}">
        <p14:creationId xmlns:p14="http://schemas.microsoft.com/office/powerpoint/2010/main" val="31864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274511814]">
  <a:themeElements>
    <a:clrScheme name="StatePatternDark">
      <a:dk1>
        <a:srgbClr val="F0F0F0"/>
      </a:dk1>
      <a:lt1>
        <a:srgbClr val="0F1923"/>
      </a:lt1>
      <a:dk2>
        <a:srgbClr val="B0BEC5"/>
      </a:dk2>
      <a:lt2>
        <a:srgbClr val="1A2736"/>
      </a:lt2>
      <a:accent1>
        <a:srgbClr val="00E5FF"/>
      </a:accent1>
      <a:accent2>
        <a:srgbClr val="FF6E40"/>
      </a:accent2>
      <a:accent3>
        <a:srgbClr val="69F0AE"/>
      </a:accent3>
      <a:accent4>
        <a:srgbClr val="FF5252"/>
      </a:accent4>
      <a:accent5>
        <a:srgbClr val="B388FF"/>
      </a:accent5>
      <a:accent6>
        <a:srgbClr val="FFD740"/>
      </a:accent6>
      <a:hlink>
        <a:srgbClr val="0563C1"/>
      </a:hlink>
      <a:folHlink>
        <a:srgbClr val="954F72"/>
      </a:folHlink>
    </a:clrScheme>
    <a:fontScheme name="StatePatternFonts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c2484c-f85b-4914-a4e9-543bd2c080fa}">
  <we:reference id="WA200010001" version="1.0.0.1" store="en-001" storeType="OMEX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  <Last_x0020_Modified_x0020_by xmlns="f577acbf-5b0b-4b4f-9948-268e97f8d3a4">
      <UserInfo>
        <DisplayName/>
        <AccountId xsi:nil="true"/>
        <AccountType/>
      </UserInfo>
    </Last_x0020_Modified_x0020_by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7" ma:contentTypeDescription="Create a new document." ma:contentTypeScope="" ma:versionID="494388dab000d3589ee33216531581af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bac03f58105d2ec42145d3be0283fbe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Last_x0020_Modified_x0020_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Last_x0020_Modified_x0020_by" ma:index="22" nillable="true" ma:displayName="Last Modified by" ma:description="Last Modified by" ma:format="Dropdown" ma:list="UserInfo" ma:SharePointGroup="0" ma:internalName="Last_x0020_Modified_x0020_by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B243679-E22B-4C99-B57E-4328813775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12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 [1774274511814]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</cp:revision>
  <dcterms:created xsi:type="dcterms:W3CDTF">2026-03-23T13:52:21Z</dcterms:created>
  <dcterms:modified xsi:type="dcterms:W3CDTF">2026-03-23T16:44:02Z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